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7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8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b625aa1c364cd1" /><Relationship Type="http://schemas.openxmlformats.org/officeDocument/2006/relationships/extended-properties" Target="/docProps/app.xml" Id="R8061f92792b74f3d" /><Relationship Type="http://schemas.openxmlformats.org/officeDocument/2006/relationships/officeDocument" Target="/ppt/presentation.xml" Id="R96cf7cd7bdd747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4642ac83ae4d1c"/>
  </p:sldMasterIdLst>
  <p:notesMasterIdLst>
    <p:notesMasterId xmlns:r="http://schemas.openxmlformats.org/officeDocument/2006/relationships" r:id="R2c8ddff463594793"/>
  </p:notesMasterIdLst>
  <p:sldIdLst>
    <p:sldId xmlns:r="http://schemas.openxmlformats.org/officeDocument/2006/relationships" id="256" r:id="R2ec7e6709e2d4b66"/>
    <p:sldId xmlns:r="http://schemas.openxmlformats.org/officeDocument/2006/relationships" id="257" r:id="R1890c2d60bc7424c"/>
    <p:sldId xmlns:r="http://schemas.openxmlformats.org/officeDocument/2006/relationships" id="258" r:id="Rc31c7c5d0d714212"/>
    <p:sldId xmlns:r="http://schemas.openxmlformats.org/officeDocument/2006/relationships" id="259" r:id="Rd93a18f861244623"/>
    <p:sldId xmlns:r="http://schemas.openxmlformats.org/officeDocument/2006/relationships" id="260" r:id="R0408d5f0bd2c4599"/>
    <p:sldId xmlns:r="http://schemas.openxmlformats.org/officeDocument/2006/relationships" id="261" r:id="R179a82d176fc428f"/>
    <p:sldId xmlns:r="http://schemas.openxmlformats.org/officeDocument/2006/relationships" id="262" r:id="R19921c7c37fd4922"/>
    <p:sldId xmlns:r="http://schemas.openxmlformats.org/officeDocument/2006/relationships" id="263" r:id="R4de0d08f80454be1"/>
    <p:sldId xmlns:r="http://schemas.openxmlformats.org/officeDocument/2006/relationships" id="264" r:id="R6d0cfa1539724162"/>
    <p:sldId xmlns:r="http://schemas.openxmlformats.org/officeDocument/2006/relationships" id="265" r:id="R8d5ba3c459864ef5"/>
    <p:sldId xmlns:r="http://schemas.openxmlformats.org/officeDocument/2006/relationships" id="266" r:id="R50ac833e47cb4b74"/>
    <p:sldId xmlns:r="http://schemas.openxmlformats.org/officeDocument/2006/relationships" id="267" r:id="R5b6ad0c3e7004eeb"/>
    <p:sldId xmlns:r="http://schemas.openxmlformats.org/officeDocument/2006/relationships" id="268" r:id="Rfbfdb29742b543c6"/>
    <p:sldId xmlns:r="http://schemas.openxmlformats.org/officeDocument/2006/relationships" id="269" r:id="R86fd53cc00db4739"/>
    <p:sldId xmlns:r="http://schemas.openxmlformats.org/officeDocument/2006/relationships" id="270" r:id="Ra2a7494ecbe34358"/>
    <p:sldId xmlns:r="http://schemas.openxmlformats.org/officeDocument/2006/relationships" id="271" r:id="Rcd461d3bc087419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3876497a3b4ccf" /><Relationship Type="http://schemas.openxmlformats.org/officeDocument/2006/relationships/slideMaster" Target="/ppt/slideMasters/slideMaster1.xml" Id="Rcb4642ac83ae4d1c" /><Relationship Type="http://schemas.openxmlformats.org/officeDocument/2006/relationships/notesMaster" Target="/ppt/notesMasters/notesMaster1.xml" Id="R2c8ddff463594793" /><Relationship Type="http://schemas.openxmlformats.org/officeDocument/2006/relationships/presProps" Target="/ppt/presProps.xml" Id="R12d44b2d183b4835" /><Relationship Type="http://schemas.openxmlformats.org/officeDocument/2006/relationships/viewProps" Target="/ppt/viewProps.xml" Id="Rc55c647034904456" /><Relationship Type="http://schemas.openxmlformats.org/officeDocument/2006/relationships/tableStyles" Target="/ppt/tableStyles.xml" Id="R335d1dd5d63d4055" /><Relationship Type="http://schemas.openxmlformats.org/officeDocument/2006/relationships/slide" Target="/ppt/slides/slide1.xml" Id="R2ec7e6709e2d4b66" /><Relationship Type="http://schemas.openxmlformats.org/officeDocument/2006/relationships/slide" Target="/ppt/slides/slide2.xml" Id="R1890c2d60bc7424c" /><Relationship Type="http://schemas.openxmlformats.org/officeDocument/2006/relationships/slide" Target="/ppt/slides/slide3.xml" Id="Rc31c7c5d0d714212" /><Relationship Type="http://schemas.openxmlformats.org/officeDocument/2006/relationships/slide" Target="/ppt/slides/slide4.xml" Id="Rd93a18f861244623" /><Relationship Type="http://schemas.openxmlformats.org/officeDocument/2006/relationships/slide" Target="/ppt/slides/slide5.xml" Id="R0408d5f0bd2c4599" /><Relationship Type="http://schemas.openxmlformats.org/officeDocument/2006/relationships/slide" Target="/ppt/slides/slide6.xml" Id="R179a82d176fc428f" /><Relationship Type="http://schemas.openxmlformats.org/officeDocument/2006/relationships/slide" Target="/ppt/slides/slide7.xml" Id="R19921c7c37fd4922" /><Relationship Type="http://schemas.openxmlformats.org/officeDocument/2006/relationships/slide" Target="/ppt/slides/slide8.xml" Id="R4de0d08f80454be1" /><Relationship Type="http://schemas.openxmlformats.org/officeDocument/2006/relationships/slide" Target="/ppt/slides/slide9.xml" Id="R6d0cfa1539724162" /><Relationship Type="http://schemas.openxmlformats.org/officeDocument/2006/relationships/slide" Target="/ppt/slides/slide10.xml" Id="R8d5ba3c459864ef5" /><Relationship Type="http://schemas.openxmlformats.org/officeDocument/2006/relationships/slide" Target="/ppt/slides/slide11.xml" Id="R50ac833e47cb4b74" /><Relationship Type="http://schemas.openxmlformats.org/officeDocument/2006/relationships/slide" Target="/ppt/slides/slide12.xml" Id="R5b6ad0c3e7004eeb" /><Relationship Type="http://schemas.openxmlformats.org/officeDocument/2006/relationships/slide" Target="/ppt/slides/slide13.xml" Id="Rfbfdb29742b543c6" /><Relationship Type="http://schemas.openxmlformats.org/officeDocument/2006/relationships/slide" Target="/ppt/slides/slide14.xml" Id="R86fd53cc00db4739" /><Relationship Type="http://schemas.openxmlformats.org/officeDocument/2006/relationships/slide" Target="/ppt/slides/slide15.xml" Id="Ra2a7494ecbe34358" /><Relationship Type="http://schemas.openxmlformats.org/officeDocument/2006/relationships/slide" Target="/ppt/slides/slide16.xml" Id="Rcd461d3bc08741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5855da1ba74d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97e2df140a490a" /><Relationship Type="http://schemas.openxmlformats.org/officeDocument/2006/relationships/notesMaster" Target="/ppt/notesMasters/notesMaster1.xml" Id="Rf241579e6e4f46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64a8b2291345a7" /><Relationship Type="http://schemas.openxmlformats.org/officeDocument/2006/relationships/notesMaster" Target="/ppt/notesMasters/notesMaster1.xml" Id="Rd3d2e0c280f84e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6c451bd5847e2" /><Relationship Type="http://schemas.openxmlformats.org/officeDocument/2006/relationships/notesMaster" Target="/ppt/notesMasters/notesMaster1.xml" Id="R9d54f1ebf73d4b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35683e4b7844b5" /><Relationship Type="http://schemas.openxmlformats.org/officeDocument/2006/relationships/notesMaster" Target="/ppt/notesMasters/notesMaster1.xml" Id="R9d0c8adcb9184a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92ab2b518a473c" /><Relationship Type="http://schemas.openxmlformats.org/officeDocument/2006/relationships/notesMaster" Target="/ppt/notesMasters/notesMaster1.xml" Id="R23a25a517ccb45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61fbbdf6ac4fce" /><Relationship Type="http://schemas.openxmlformats.org/officeDocument/2006/relationships/notesMaster" Target="/ppt/notesMasters/notesMaster1.xml" Id="Rf3b7b68bc91c4c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d73982476f4233" /><Relationship Type="http://schemas.openxmlformats.org/officeDocument/2006/relationships/notesMaster" Target="/ppt/notesMasters/notesMaster1.xml" Id="R8079311f4bd141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daf0f6365f47d9" /><Relationship Type="http://schemas.openxmlformats.org/officeDocument/2006/relationships/notesMaster" Target="/ppt/notesMasters/notesMaster1.xml" Id="R5d23cb3332f54c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2895ae47864939" /><Relationship Type="http://schemas.openxmlformats.org/officeDocument/2006/relationships/notesMaster" Target="/ppt/notesMasters/notesMaster1.xml" Id="Rc68706e7f40b4d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5819547f742ca" /><Relationship Type="http://schemas.openxmlformats.org/officeDocument/2006/relationships/notesMaster" Target="/ppt/notesMasters/notesMaster1.xml" Id="R5e81041246f746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5ab996e6424f4a" /><Relationship Type="http://schemas.openxmlformats.org/officeDocument/2006/relationships/notesMaster" Target="/ppt/notesMasters/notesMaster1.xml" Id="R8645b346e8864f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41a288b0e14d9a" /><Relationship Type="http://schemas.openxmlformats.org/officeDocument/2006/relationships/notesMaster" Target="/ppt/notesMasters/notesMaster1.xml" Id="R58878cdf9f874d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81aeda93714031" /><Relationship Type="http://schemas.openxmlformats.org/officeDocument/2006/relationships/notesMaster" Target="/ppt/notesMasters/notesMaster1.xml" Id="R88388efcb4e04a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02ee7c430b4e1e" /><Relationship Type="http://schemas.openxmlformats.org/officeDocument/2006/relationships/notesMaster" Target="/ppt/notesMasters/notesMaster1.xml" Id="Rac43c267e04b42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481df0945c4f56" /><Relationship Type="http://schemas.openxmlformats.org/officeDocument/2006/relationships/notesMaster" Target="/ppt/notesMasters/notesMaster1.xml" Id="R56e0f5077fe64c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2ffc23739b421e" /><Relationship Type="http://schemas.openxmlformats.org/officeDocument/2006/relationships/notesMaster" Target="/ppt/notesMasters/notesMaster1.xml" Id="R99c954703ccb4e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goal in plain language. Students will learn to predict what the system does to sinusoids and to sketch the important Bode features without plotting many individual points.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with the sensor question. Ask students to point to a low, middle, and high frequency on the plot and describe what happens to each input. Do not introduce slope rules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this formula to the frequency-response material. The Bode plot is a convenient way to read the two quantities |H(jω)| and angle H(jω) across many frequencies.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logarithmic axis as a ratio axis. One decade means multiplying frequency by ten. Magnitude reports amplitude ratio in dB. Phase reports the angle added to the input sinusoid.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 answer: B. A magnitude of -6 dB is approximately 0.5, so the output amplitude is 2. The output phase is 20 degrees plus -45 degrees, which equals -25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conversion table visible while students answer Activity 1. Emphasize 0 dB as a ratio of one and -3 dB as the exact first-order corner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 the slope from the high-frequency approximation. The -20 dB per decade rule should follow from the formula rather than appear as a fact to memorize.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compare this slide with the previous pole slide. The rules are mirror images, but their signs matter.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ask students to memorize every row immediately. Use the table while building the worked example, then return to it as a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 answer: C. Above 20 rad/s, both real poles contribute -20 dB per decade, giving a net slope of -40 dB per decade.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before revealing the table. Ask students to predict each slope region using the building-block table from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compare the exact and approximate curves. The asymptote is a reasoning tool, not an exact replacement for the frequency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closes the loop from a transfer function to a time-domain prediction. Students should identify the unchanged frequency, the amplitude scale, and the phase shift.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 answer: A. The magnitude doubles the input amplitude from 3 to 6. The phase becomes 10 degrees plus -30 degrees, which equals -20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this slide directly to the earlier pole-pattern lesson. Do not derive the resonance formula here. Ask students to compare the three damping ratios and explain the change in the peak.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closing retrieval slide. Ask students to explain one item in their own words and identify which skill still needs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4c5c8af4448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6cd3537914f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e15ee21bc42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d5f0dbb6747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d23500ab14f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10e1105c349b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0b4c480424e2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e955790f941a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d72edbf29445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678f16ada429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d7c2068f348a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620F6B-1274-A34D-9F32-B9DE84A7BC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432674E-A5D0-3449-8FD8-31000E8913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6718ED-723A-F04C-926B-1E9053C179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08F821-7CD3-4156-906B-9AFC06E1669A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991C09-5343-E146-A9DD-C9878BD6A4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CCBB35-B03B-4C4B-9335-98F0C73E76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4537DD3-2515-49B3-8711-D1455490DEF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93D57D-0F41-4049-B143-4159C5F6A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734B62-AFEE-DE4D-A026-64D8F52339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9C1FC3-89F7-5646-A411-6D0ADC3974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77EDA4-A392-4462-BB27-989F88565297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270C84-5ED5-554C-834C-9C39824D57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5BE47B-E814-1241-B8E7-9EFD52D15A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3FC49-E60F-4606-9A69-83B0AD922FA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B97CD9-00AF-2945-ADCC-9C60E411A6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250729-FDB3-0543-AB38-0F0B8EF98E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8599D7-603E-3845-94B6-33C1001B6F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A14F70-D0B6-41E4-AB56-33FC990E25AE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907597-0CED-9847-98E0-C9C1A632B9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CF8C1D-7866-9D48-9336-BBA0A3EF32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4DAA1C-3C30-43D4-9A31-8A6B5D72968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BEE48E-E039-2643-87FD-DB77E8DDD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875913-4BC2-AC4D-8F42-00BC58FCFC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01E132-BD3A-6446-B06F-D6CA908F44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B3C8A9-B7DD-9C46-B1B7-3A2555AFFA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58C204A-18B2-4C34-BBF9-DE574CD4D900}" type="datetime1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F5551C8-9857-9941-BED2-082A41AC86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1E23BD-4EA5-3446-815D-E5B008CD78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066D7E-F21F-40B0-BDD9-A7E25A5EC645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AADE11-23F1-BD42-BE4C-B162B75F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FEBB14-FBA4-334E-A5AC-527AE0DA12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823336E-4C4A-0D47-8BEA-76DB715D45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F92B19D-4920-7F42-84C3-5353A082BC0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ACB2272-EA3B-D740-9152-1217302336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BA91C35-8179-174C-95D7-2CC5E714D0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DFEDE4-CEA2-4EDC-AA9C-14B74D7D357C}" type="datetime1">
              <a:t>10/19/2026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2828D49-08B0-A847-8F42-F0BB8BDCBB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38CCB48-5CFD-194A-B573-FE947304E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9D1FAA4-5414-4982-A7EC-1B608B458D1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7A4CD5-0AF8-0E46-B61B-F633F4252E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305FAA0-ED5F-7246-B61C-61652059CF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CDD242-85DB-405F-A9DF-AE9618344270}" type="datetime1">
              <a:t>10/19/2026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5EE7736-599A-8C45-9E12-0F0A8FB94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C01C9F4-0088-9C45-95A4-95B9E4F186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09A7A8-E26E-41EF-8C04-E2A9235D58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D1756D0-457C-434A-80A8-7F13A2FC6A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D8F35-9D86-4AEB-8EC8-2AE02CE9E218}" type="datetime1">
              <a:t>10/19/2026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2822977-4102-AA4A-B42B-95ED58FEAB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3871B5-B8B9-A04B-92DD-09D78DB4FB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A3BB06-BC23-4967-B343-2235CAD6F61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CE950D-D656-B64A-B75F-31F27F717C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441563-DD09-8E40-86A6-3B82D448D6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68C2BB3-4745-714B-B926-0D39F33495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A25227B-EB26-E641-BB49-27A51F0A27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9496E3-388E-44A2-9023-8921B359AA2B}" type="datetime1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A9DC8C-785E-FA4F-AFFF-054FBB51FA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7272146-319B-5D4B-8ADF-50947E623C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5E2FC5-4674-4EF9-AC2A-7A5DF39242B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DC83D0-5BAB-1F49-A04F-EEFCF78A8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5A91B77-AB57-D543-9A44-6FED0596C76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CCDFB13-A5AC-8C47-93BB-578113D403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90A2AE2-E193-7B4E-8B83-F124B68086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4A9E84-6555-4655-99C4-6022AEE674F7}" type="datetime1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B9DCCA0-9CA6-9F44-B365-1034CDEDB8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0B7EC76-EA5F-F640-AEF2-77033E371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DD9128-52DF-4A72-9006-FDD7EFBC593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2D4C02-18ED-7C45-A221-A1B35B1E2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5BBCB9E-481F-9446-BB28-AEB09FF648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B8DB48-DF73-5B45-BB0E-7216608330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EB55C-5ED7-4F4D-920A-D3517CC2572E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8BDD0A-0052-EA48-833E-3368E270C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195EC7-61FF-784E-9DCB-DF9C86113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417AD0C-18EA-4770-86F4-28ABF161CD4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C06DECD-4069-4842-A3C9-D52007D1EE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24F81D-8B03-5F4A-8BA5-069D46ABE2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94D910-01D8-2640-AD19-C31994B521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D45FC4-C535-4004-B58C-543D637B862C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BE1B17-1221-584A-B84C-2F8E699E31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C26D80-9FC6-D449-8F69-7F59B2651C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05C971-E002-4F2C-B705-5B12D4E96FE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33d8536f124fc5" /><Relationship Type="http://schemas.openxmlformats.org/officeDocument/2006/relationships/slideLayout" Target="/ppt/slideLayouts/slideLayout1.xml" Id="R6984c84282974976" /><Relationship Type="http://schemas.openxmlformats.org/officeDocument/2006/relationships/slideLayout" Target="/ppt/slideLayouts/slideLayout2.xml" Id="Rfd9e0daa5b85418f" /><Relationship Type="http://schemas.openxmlformats.org/officeDocument/2006/relationships/slideLayout" Target="/ppt/slideLayouts/slideLayout3.xml" Id="R97c86a1260074c9f" /><Relationship Type="http://schemas.openxmlformats.org/officeDocument/2006/relationships/slideLayout" Target="/ppt/slideLayouts/slideLayout4.xml" Id="R791671412db6414b" /><Relationship Type="http://schemas.openxmlformats.org/officeDocument/2006/relationships/slideLayout" Target="/ppt/slideLayouts/slideLayout5.xml" Id="Raba2826a33534287" /><Relationship Type="http://schemas.openxmlformats.org/officeDocument/2006/relationships/slideLayout" Target="/ppt/slideLayouts/slideLayout6.xml" Id="R75d22b3efdd54108" /><Relationship Type="http://schemas.openxmlformats.org/officeDocument/2006/relationships/slideLayout" Target="/ppt/slideLayouts/slideLayout7.xml" Id="R2b385d016ffd451c" /><Relationship Type="http://schemas.openxmlformats.org/officeDocument/2006/relationships/slideLayout" Target="/ppt/slideLayouts/slideLayout8.xml" Id="R252a2d7402d847e1" /><Relationship Type="http://schemas.openxmlformats.org/officeDocument/2006/relationships/slideLayout" Target="/ppt/slideLayouts/slideLayout9.xml" Id="Re8b64f56f0f0479b" /><Relationship Type="http://schemas.openxmlformats.org/officeDocument/2006/relationships/slideLayout" Target="/ppt/slideLayouts/slideLayout10.xml" Id="R30ad3dff1cf94963" /><Relationship Type="http://schemas.openxmlformats.org/officeDocument/2006/relationships/slideLayout" Target="/ppt/slideLayouts/slideLayout11.xml" Id="R27cc57d00835417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A905A38-AF08-6D4E-AFE8-E4A6F0470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35CE49-9C41-3844-B87C-32768B90B9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FD0B0B-EBF8-7047-9EE4-0518D69DF1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3414950-E075-4B5B-976F-60AC4AD81325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FDA49B-BA3A-9642-AC06-92F9AA91F50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B1799B-DEF0-F843-938C-6CC9F39E37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C2A7195-506A-40E6-AC09-BF3E15EE274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84c84282974976"/>
    <p:sldLayoutId xmlns:r="http://schemas.openxmlformats.org/officeDocument/2006/relationships" id="2147483650" r:id="Rfd9e0daa5b85418f"/>
    <p:sldLayoutId xmlns:r="http://schemas.openxmlformats.org/officeDocument/2006/relationships" id="2147483651" r:id="R97c86a1260074c9f"/>
    <p:sldLayoutId xmlns:r="http://schemas.openxmlformats.org/officeDocument/2006/relationships" id="2147483652" r:id="R791671412db6414b"/>
    <p:sldLayoutId xmlns:r="http://schemas.openxmlformats.org/officeDocument/2006/relationships" id="2147483653" r:id="Raba2826a33534287"/>
    <p:sldLayoutId xmlns:r="http://schemas.openxmlformats.org/officeDocument/2006/relationships" id="2147483654" r:id="R75d22b3efdd54108"/>
    <p:sldLayoutId xmlns:r="http://schemas.openxmlformats.org/officeDocument/2006/relationships" id="2147483655" r:id="R2b385d016ffd451c"/>
    <p:sldLayoutId xmlns:r="http://schemas.openxmlformats.org/officeDocument/2006/relationships" id="2147483656" r:id="R252a2d7402d847e1"/>
    <p:sldLayoutId xmlns:r="http://schemas.openxmlformats.org/officeDocument/2006/relationships" id="2147483657" r:id="Re8b64f56f0f0479b"/>
    <p:sldLayoutId xmlns:r="http://schemas.openxmlformats.org/officeDocument/2006/relationships" id="2147483658" r:id="R30ad3dff1cf94963"/>
    <p:sldLayoutId xmlns:r="http://schemas.openxmlformats.org/officeDocument/2006/relationships" id="2147483659" r:id="R27cc57d00835417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2518c9672498f" /><Relationship Type="http://schemas.openxmlformats.org/officeDocument/2006/relationships/notesSlide" Target="/ppt/notesSlides/notesSlide1.xml" Id="R86af96ccc54b47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2003c1234c47d2" /><Relationship Type="http://schemas.openxmlformats.org/officeDocument/2006/relationships/chart" Target="/ppt/slides/charts/chart1.xml" Id="Rf1869d268e4b4335" /><Relationship Type="http://schemas.openxmlformats.org/officeDocument/2006/relationships/notesSlide" Target="/ppt/notesSlides/notesSlide2.xml" Id="R1b225a2328314e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ad3bde37e54034" /><Relationship Type="http://schemas.openxmlformats.org/officeDocument/2006/relationships/notesSlide" Target="/ppt/notesSlides/notesSlide3.xml" Id="Ra6635002a62e4d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842e521d7a4748" /><Relationship Type="http://schemas.openxmlformats.org/officeDocument/2006/relationships/chart" Target="/ppt/slides/charts/chart2.xml" Id="R729f26c08c5b437a" /><Relationship Type="http://schemas.openxmlformats.org/officeDocument/2006/relationships/chart" Target="/ppt/slides/charts/chart3.xml" Id="Rb472503e9a334b30" /><Relationship Type="http://schemas.openxmlformats.org/officeDocument/2006/relationships/notesSlide" Target="/ppt/notesSlides/notesSlide4.xml" Id="R12e26a2d75174c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7114e831eb4a0c" /><Relationship Type="http://schemas.openxmlformats.org/officeDocument/2006/relationships/notesSlide" Target="/ppt/notesSlides/notesSlide5.xml" Id="R53f68e43543241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578b66f14b4710" /><Relationship Type="http://schemas.openxmlformats.org/officeDocument/2006/relationships/notesSlide" Target="/ppt/notesSlides/notesSlide6.xml" Id="R0c0f9299897e40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e08865ef8e475a" /><Relationship Type="http://schemas.openxmlformats.org/officeDocument/2006/relationships/chart" Target="/ppt/slides/charts/chart4.xml" Id="Rcac6f576c8a84bb8" /><Relationship Type="http://schemas.openxmlformats.org/officeDocument/2006/relationships/notesSlide" Target="/ppt/notesSlides/notesSlide7.xml" Id="Ra32d2daba51741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06a700527847bc" /><Relationship Type="http://schemas.openxmlformats.org/officeDocument/2006/relationships/chart" Target="/ppt/slides/charts/chart5.xml" Id="R113653ea9f034b90" /><Relationship Type="http://schemas.openxmlformats.org/officeDocument/2006/relationships/notesSlide" Target="/ppt/notesSlides/notesSlide8.xml" Id="R58910e52908346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fa6368f8d54007" /><Relationship Type="http://schemas.openxmlformats.org/officeDocument/2006/relationships/notesSlide" Target="/ppt/notesSlides/notesSlide9.xml" Id="R6ca927b5045d4f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0217070b78409f" /><Relationship Type="http://schemas.openxmlformats.org/officeDocument/2006/relationships/notesSlide" Target="/ppt/notesSlides/notesSlide10.xml" Id="Rfa912e31d54a4e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206cbf28894cd7" /><Relationship Type="http://schemas.openxmlformats.org/officeDocument/2006/relationships/notesSlide" Target="/ppt/notesSlides/notesSlide11.xml" Id="Ra5759be3135c41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068411efa74c12" /><Relationship Type="http://schemas.openxmlformats.org/officeDocument/2006/relationships/chart" Target="/ppt/slides/charts/chart6.xml" Id="Rbc3a74a085ea490d" /><Relationship Type="http://schemas.openxmlformats.org/officeDocument/2006/relationships/notesSlide" Target="/ppt/notesSlides/notesSlide12.xml" Id="R51ccdffe33614c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135c5c5cfb4ab6" /><Relationship Type="http://schemas.openxmlformats.org/officeDocument/2006/relationships/chart" Target="/ppt/slides/charts/chart7.xml" Id="R9d1d5de3971b4419" /><Relationship Type="http://schemas.openxmlformats.org/officeDocument/2006/relationships/notesSlide" Target="/ppt/notesSlides/notesSlide13.xml" Id="R119c00db341c44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26748ac6b5493a" /><Relationship Type="http://schemas.openxmlformats.org/officeDocument/2006/relationships/notesSlide" Target="/ppt/notesSlides/notesSlide14.xml" Id="Rb58d36c526f846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edce70189e4f31" /><Relationship Type="http://schemas.openxmlformats.org/officeDocument/2006/relationships/chart" Target="/ppt/slides/charts/chart8.xml" Id="R413f0c9258eb4df5" /><Relationship Type="http://schemas.openxmlformats.org/officeDocument/2006/relationships/notesSlide" Target="/ppt/notesSlides/notesSlide15.xml" Id="R42be586b3c944a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c1b654187145ad" /><Relationship Type="http://schemas.openxmlformats.org/officeDocument/2006/relationships/notesSlide" Target="/ppt/notesSlides/notesSlide16.xml" Id="R71228a7e454f464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Example low-pass magnitude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magnitude</c:v>
          </c:tx>
          <c:spPr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7"/>
              <c:pt idx="0">
                <c:v>0.01</c:v>
              </c:pt>
              <c:pt idx="1">
                <c:v>0.02</c:v>
              </c:pt>
              <c:pt idx="2">
                <c:v>0.03</c:v>
              </c:pt>
              <c:pt idx="3">
                <c:v>0.06</c:v>
              </c:pt>
              <c:pt idx="4">
                <c:v>0.1</c:v>
              </c:pt>
              <c:pt idx="5">
                <c:v>0.18</c:v>
              </c:pt>
              <c:pt idx="6">
                <c:v>0.32</c:v>
              </c:pt>
              <c:pt idx="7">
                <c:v>0.56</c:v>
              </c:pt>
              <c:pt idx="8">
                <c:v>1</c:v>
              </c:pt>
              <c:pt idx="9">
                <c:v>1.8</c:v>
              </c:pt>
              <c:pt idx="10">
                <c:v>3.2</c:v>
              </c:pt>
              <c:pt idx="11">
                <c:v>5.6</c:v>
              </c:pt>
              <c:pt idx="12">
                <c:v>10</c:v>
              </c:pt>
              <c:pt idx="13">
                <c:v>18</c:v>
              </c:pt>
              <c:pt idx="14">
                <c:v>32</c:v>
              </c:pt>
              <c:pt idx="15">
                <c:v>56</c:v>
              </c:pt>
              <c:pt idx="16">
                <c:v>100</c:v>
              </c:pt>
            </c:numLit>
          </c:cat>
          <c:val>
            <c:numLit>
              <c:formatCode>General</c:formatCode>
              <c:ptCount val="17"/>
              <c:pt idx="0">
                <c:v>-0.0004342727686253966</c:v>
              </c:pt>
              <c:pt idx="1">
                <c:v>-0.0013731426365847117</c:v>
              </c:pt>
              <c:pt idx="2">
                <c:v>-0.004340774793186364</c:v>
              </c:pt>
              <c:pt idx="3">
                <c:v>-0.013711928326834145</c:v>
              </c:pt>
              <c:pt idx="4">
                <c:v>-0.04321373782642462</c:v>
              </c:pt>
              <c:pt idx="5">
                <c:v>-0.13520922108038075</c:v>
              </c:pt>
              <c:pt idx="6">
                <c:v>-0.41392685158225107</c:v>
              </c:pt>
              <c:pt idx="7">
                <c:v>-1.1933104806609456</c:v>
              </c:pt>
              <c:pt idx="8">
                <c:v>-3.0102999566398125</c:v>
              </c:pt>
              <c:pt idx="9">
                <c:v>-6.193310480660945</c:v>
              </c:pt>
              <c:pt idx="10">
                <c:v>-10.413926851582252</c:v>
              </c:pt>
              <c:pt idx="11">
                <c:v>-15.135209221080384</c:v>
              </c:pt>
              <c:pt idx="12">
                <c:v>-20.043213737826427</c:v>
              </c:pt>
              <c:pt idx="13">
                <c:v>-25.013711928326835</c:v>
              </c:pt>
              <c:pt idx="14">
                <c:v>-30.00434077479319</c:v>
              </c:pt>
              <c:pt idx="15">
                <c:v>-35.00137314263658</c:v>
              </c:pt>
              <c:pt idx="16">
                <c:v>-40.00043427276863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ω (rad/s), log-spaced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4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magnitude (dB)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Magnitude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magnitude</c:v>
          </c:tx>
          <c:spPr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7"/>
              <c:pt idx="0">
                <c:v>0.01</c:v>
              </c:pt>
              <c:pt idx="1">
                <c:v>0.02</c:v>
              </c:pt>
              <c:pt idx="2">
                <c:v>0.03</c:v>
              </c:pt>
              <c:pt idx="3">
                <c:v>0.06</c:v>
              </c:pt>
              <c:pt idx="4">
                <c:v>0.1</c:v>
              </c:pt>
              <c:pt idx="5">
                <c:v>0.18</c:v>
              </c:pt>
              <c:pt idx="6">
                <c:v>0.32</c:v>
              </c:pt>
              <c:pt idx="7">
                <c:v>0.56</c:v>
              </c:pt>
              <c:pt idx="8">
                <c:v>1</c:v>
              </c:pt>
              <c:pt idx="9">
                <c:v>1.8</c:v>
              </c:pt>
              <c:pt idx="10">
                <c:v>3.2</c:v>
              </c:pt>
              <c:pt idx="11">
                <c:v>5.6</c:v>
              </c:pt>
              <c:pt idx="12">
                <c:v>10</c:v>
              </c:pt>
              <c:pt idx="13">
                <c:v>18</c:v>
              </c:pt>
              <c:pt idx="14">
                <c:v>32</c:v>
              </c:pt>
              <c:pt idx="15">
                <c:v>56</c:v>
              </c:pt>
              <c:pt idx="16">
                <c:v>100</c:v>
              </c:pt>
            </c:numLit>
          </c:cat>
          <c:val>
            <c:numLit>
              <c:formatCode>General</c:formatCode>
              <c:ptCount val="17"/>
              <c:pt idx="0">
                <c:v>-0.0004342727686253966</c:v>
              </c:pt>
              <c:pt idx="1">
                <c:v>-0.0013731426365847117</c:v>
              </c:pt>
              <c:pt idx="2">
                <c:v>-0.004340774793186364</c:v>
              </c:pt>
              <c:pt idx="3">
                <c:v>-0.013711928326834145</c:v>
              </c:pt>
              <c:pt idx="4">
                <c:v>-0.04321373782642462</c:v>
              </c:pt>
              <c:pt idx="5">
                <c:v>-0.13520922108038075</c:v>
              </c:pt>
              <c:pt idx="6">
                <c:v>-0.41392685158225107</c:v>
              </c:pt>
              <c:pt idx="7">
                <c:v>-1.1933104806609456</c:v>
              </c:pt>
              <c:pt idx="8">
                <c:v>-3.0102999566398125</c:v>
              </c:pt>
              <c:pt idx="9">
                <c:v>-6.193310480660945</c:v>
              </c:pt>
              <c:pt idx="10">
                <c:v>-10.413926851582252</c:v>
              </c:pt>
              <c:pt idx="11">
                <c:v>-15.135209221080384</c:v>
              </c:pt>
              <c:pt idx="12">
                <c:v>-20.043213737826427</c:v>
              </c:pt>
              <c:pt idx="13">
                <c:v>-25.013711928326835</c:v>
              </c:pt>
              <c:pt idx="14">
                <c:v>-30.00434077479319</c:v>
              </c:pt>
              <c:pt idx="15">
                <c:v>-35.00137314263658</c:v>
              </c:pt>
              <c:pt idx="16">
                <c:v>-40.00043427276863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ω (rad/s), log-spaced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4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dB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Phase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phase</c:v>
          </c:tx>
          <c:spPr>
            <a:ln xmlns:a="http://schemas.openxmlformats.org/drawingml/2006/main" w="28575">
              <a:solidFill>
                <a:srgbClr val="ED9E1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7"/>
              <c:pt idx="0">
                <c:v>0.01</c:v>
              </c:pt>
              <c:pt idx="1">
                <c:v>0.02</c:v>
              </c:pt>
              <c:pt idx="2">
                <c:v>0.03</c:v>
              </c:pt>
              <c:pt idx="3">
                <c:v>0.06</c:v>
              </c:pt>
              <c:pt idx="4">
                <c:v>0.1</c:v>
              </c:pt>
              <c:pt idx="5">
                <c:v>0.18</c:v>
              </c:pt>
              <c:pt idx="6">
                <c:v>0.32</c:v>
              </c:pt>
              <c:pt idx="7">
                <c:v>0.56</c:v>
              </c:pt>
              <c:pt idx="8">
                <c:v>1</c:v>
              </c:pt>
              <c:pt idx="9">
                <c:v>1.8</c:v>
              </c:pt>
              <c:pt idx="10">
                <c:v>3.2</c:v>
              </c:pt>
              <c:pt idx="11">
                <c:v>5.6</c:v>
              </c:pt>
              <c:pt idx="12">
                <c:v>10</c:v>
              </c:pt>
              <c:pt idx="13">
                <c:v>18</c:v>
              </c:pt>
              <c:pt idx="14">
                <c:v>32</c:v>
              </c:pt>
              <c:pt idx="15">
                <c:v>56</c:v>
              </c:pt>
              <c:pt idx="16">
                <c:v>100</c:v>
              </c:pt>
            </c:numLit>
          </c:cat>
          <c:val>
            <c:numLit>
              <c:formatCode>General</c:formatCode>
              <c:ptCount val="17"/>
              <c:pt idx="0">
                <c:v>-0.5729386976834859</c:v>
              </c:pt>
              <c:pt idx="1">
                <c:v>-1.018771670993491</c:v>
              </c:pt>
              <c:pt idx="2">
                <c:v>-1.811248047327972</c:v>
              </c:pt>
              <c:pt idx="3">
                <c:v>-3.2185886238576105</c:v>
              </c:pt>
              <c:pt idx="4">
                <c:v>-5.710593137499643</c:v>
              </c:pt>
              <c:pt idx="5">
                <c:v>-10.083384050489851</c:v>
              </c:pt>
              <c:pt idx="6">
                <c:v>-17.5484006137923</c:v>
              </c:pt>
              <c:pt idx="7">
                <c:v>-29.35084685018179</c:v>
              </c:pt>
              <c:pt idx="8">
                <c:v>-45</c:v>
              </c:pt>
              <c:pt idx="9">
                <c:v>-60.64915314981822</c:v>
              </c:pt>
              <c:pt idx="10">
                <c:v>-72.4515993862077</c:v>
              </c:pt>
              <c:pt idx="11">
                <c:v>-79.91661594951015</c:v>
              </c:pt>
              <c:pt idx="12">
                <c:v>-84.28940686250037</c:v>
              </c:pt>
              <c:pt idx="13">
                <c:v>-86.78141137614242</c:v>
              </c:pt>
              <c:pt idx="14">
                <c:v>-88.18875195267204</c:v>
              </c:pt>
              <c:pt idx="15">
                <c:v>-88.9812283290065</c:v>
              </c:pt>
              <c:pt idx="16">
                <c:v>-89.42706130231653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ω (rad/s), log-spaced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4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degrees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Exact curve and straight-line approximation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exact</c:v>
          </c:tx>
          <c:spPr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7"/>
              <c:pt idx="0">
                <c:v>0.01</c:v>
              </c:pt>
              <c:pt idx="1">
                <c:v>0.02</c:v>
              </c:pt>
              <c:pt idx="2">
                <c:v>0.03</c:v>
              </c:pt>
              <c:pt idx="3">
                <c:v>0.06</c:v>
              </c:pt>
              <c:pt idx="4">
                <c:v>0.1</c:v>
              </c:pt>
              <c:pt idx="5">
                <c:v>0.18</c:v>
              </c:pt>
              <c:pt idx="6">
                <c:v>0.32</c:v>
              </c:pt>
              <c:pt idx="7">
                <c:v>0.56</c:v>
              </c:pt>
              <c:pt idx="8">
                <c:v>1</c:v>
              </c:pt>
              <c:pt idx="9">
                <c:v>1.8</c:v>
              </c:pt>
              <c:pt idx="10">
                <c:v>3.2</c:v>
              </c:pt>
              <c:pt idx="11">
                <c:v>5.6</c:v>
              </c:pt>
              <c:pt idx="12">
                <c:v>10</c:v>
              </c:pt>
              <c:pt idx="13">
                <c:v>18</c:v>
              </c:pt>
              <c:pt idx="14">
                <c:v>32</c:v>
              </c:pt>
              <c:pt idx="15">
                <c:v>56</c:v>
              </c:pt>
              <c:pt idx="16">
                <c:v>100</c:v>
              </c:pt>
            </c:numLit>
          </c:cat>
          <c:val>
            <c:numLit>
              <c:formatCode>General</c:formatCode>
              <c:ptCount val="17"/>
              <c:pt idx="0">
                <c:v>-0.0004342727686253966</c:v>
              </c:pt>
              <c:pt idx="1">
                <c:v>-0.0013731426365847117</c:v>
              </c:pt>
              <c:pt idx="2">
                <c:v>-0.004340774793186364</c:v>
              </c:pt>
              <c:pt idx="3">
                <c:v>-0.013711928326834145</c:v>
              </c:pt>
              <c:pt idx="4">
                <c:v>-0.04321373782642462</c:v>
              </c:pt>
              <c:pt idx="5">
                <c:v>-0.13520922108038075</c:v>
              </c:pt>
              <c:pt idx="6">
                <c:v>-0.41392685158225107</c:v>
              </c:pt>
              <c:pt idx="7">
                <c:v>-1.1933104806609456</c:v>
              </c:pt>
              <c:pt idx="8">
                <c:v>-3.0102999566398125</c:v>
              </c:pt>
              <c:pt idx="9">
                <c:v>-6.193310480660945</c:v>
              </c:pt>
              <c:pt idx="10">
                <c:v>-10.413926851582252</c:v>
              </c:pt>
              <c:pt idx="11">
                <c:v>-15.135209221080384</c:v>
              </c:pt>
              <c:pt idx="12">
                <c:v>-20.043213737826427</c:v>
              </c:pt>
              <c:pt idx="13">
                <c:v>-25.013711928326835</c:v>
              </c:pt>
              <c:pt idx="14">
                <c:v>-30.00434077479319</c:v>
              </c:pt>
              <c:pt idx="15">
                <c:v>-35.00137314263658</c:v>
              </c:pt>
              <c:pt idx="16">
                <c:v>-40.00043427276863</c:v>
              </c:pt>
            </c:numLit>
          </c:val>
        </c:ser>
        <c:ser>
          <c:idx val="1"/>
          <c:order val="1"/>
          <c:tx>
            <c:v>asymptote</c:v>
          </c:tx>
          <c:spPr>
            <a:ln xmlns:a="http://schemas.openxmlformats.org/drawingml/2006/main" w="23813">
              <a:solidFill>
                <a:srgbClr val="17365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7"/>
              <c:pt idx="0">
                <c:v>0.01</c:v>
              </c:pt>
              <c:pt idx="1">
                <c:v>0.02</c:v>
              </c:pt>
              <c:pt idx="2">
                <c:v>0.03</c:v>
              </c:pt>
              <c:pt idx="3">
                <c:v>0.06</c:v>
              </c:pt>
              <c:pt idx="4">
                <c:v>0.1</c:v>
              </c:pt>
              <c:pt idx="5">
                <c:v>0.18</c:v>
              </c:pt>
              <c:pt idx="6">
                <c:v>0.32</c:v>
              </c:pt>
              <c:pt idx="7">
                <c:v>0.56</c:v>
              </c:pt>
              <c:pt idx="8">
                <c:v>1</c:v>
              </c:pt>
              <c:pt idx="9">
                <c:v>1.8</c:v>
              </c:pt>
              <c:pt idx="10">
                <c:v>3.2</c:v>
              </c:pt>
              <c:pt idx="11">
                <c:v>5.6</c:v>
              </c:pt>
              <c:pt idx="12">
                <c:v>10</c:v>
              </c:pt>
              <c:pt idx="13">
                <c:v>18</c:v>
              </c:pt>
              <c:pt idx="14">
                <c:v>32</c:v>
              </c:pt>
              <c:pt idx="15">
                <c:v>56</c:v>
              </c:pt>
              <c:pt idx="16">
                <c:v>100</c:v>
              </c:pt>
            </c:numLit>
          </c:cat>
          <c:val>
            <c:numLit>
              <c:formatCode>General</c:formatCode>
              <c:ptCount val="17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-4.999999999999999</c:v>
              </c:pt>
              <c:pt idx="10">
                <c:v>-10</c:v>
              </c:pt>
              <c:pt idx="11">
                <c:v>-15</c:v>
              </c:pt>
              <c:pt idx="12">
                <c:v>-20</c:v>
              </c:pt>
              <c:pt idx="13">
                <c:v>-25</c:v>
              </c:pt>
              <c:pt idx="14">
                <c:v>-30</c:v>
              </c:pt>
              <c:pt idx="15">
                <c:v>-35</c:v>
              </c:pt>
              <c:pt idx="16">
                <c:v>-40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ω (rad/s), log-spaced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4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magnitude (dB)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2937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Exact curve and straight-line approximation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exact</c:v>
          </c:tx>
          <c:spPr>
            <a:ln xmlns:a="http://schemas.openxmlformats.org/drawingml/2006/main" w="28575">
              <a:solidFill>
                <a:srgbClr val="008C95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7"/>
              <c:pt idx="0">
                <c:v>0.01</c:v>
              </c:pt>
              <c:pt idx="1">
                <c:v>0.02</c:v>
              </c:pt>
              <c:pt idx="2">
                <c:v>0.03</c:v>
              </c:pt>
              <c:pt idx="3">
                <c:v>0.06</c:v>
              </c:pt>
              <c:pt idx="4">
                <c:v>0.1</c:v>
              </c:pt>
              <c:pt idx="5">
                <c:v>0.18</c:v>
              </c:pt>
              <c:pt idx="6">
                <c:v>0.32</c:v>
              </c:pt>
              <c:pt idx="7">
                <c:v>0.56</c:v>
              </c:pt>
              <c:pt idx="8">
                <c:v>1</c:v>
              </c:pt>
              <c:pt idx="9">
                <c:v>1.8</c:v>
              </c:pt>
              <c:pt idx="10">
                <c:v>3.2</c:v>
              </c:pt>
              <c:pt idx="11">
                <c:v>5.6</c:v>
              </c:pt>
              <c:pt idx="12">
                <c:v>10</c:v>
              </c:pt>
              <c:pt idx="13">
                <c:v>18</c:v>
              </c:pt>
              <c:pt idx="14">
                <c:v>32</c:v>
              </c:pt>
              <c:pt idx="15">
                <c:v>56</c:v>
              </c:pt>
              <c:pt idx="16">
                <c:v>100</c:v>
              </c:pt>
            </c:numLit>
          </c:cat>
          <c:val>
            <c:numLit>
              <c:formatCode>General</c:formatCode>
              <c:ptCount val="17"/>
              <c:pt idx="0">
                <c:v>0.00043427276862583245</c:v>
              </c:pt>
              <c:pt idx="1">
                <c:v>0.0013731426365844119</c:v>
              </c:pt>
              <c:pt idx="2">
                <c:v>0.004340774793186398</c:v>
              </c:pt>
              <c:pt idx="3">
                <c:v>0.01371192832683376</c:v>
              </c:pt>
              <c:pt idx="4">
                <c:v>0.04321373782642508</c:v>
              </c:pt>
              <c:pt idx="5">
                <c:v>0.1352092210803811</c:v>
              </c:pt>
              <c:pt idx="6">
                <c:v>0.41392685158225107</c:v>
              </c:pt>
              <c:pt idx="7">
                <c:v>1.193310480660945</c:v>
              </c:pt>
              <c:pt idx="8">
                <c:v>3.010299956639812</c:v>
              </c:pt>
              <c:pt idx="9">
                <c:v>6.193310480660945</c:v>
              </c:pt>
              <c:pt idx="10">
                <c:v>10.413926851582252</c:v>
              </c:pt>
              <c:pt idx="11">
                <c:v>15.13520922108038</c:v>
              </c:pt>
              <c:pt idx="12">
                <c:v>20.043213737826427</c:v>
              </c:pt>
              <c:pt idx="13">
                <c:v>25.013711928326835</c:v>
              </c:pt>
              <c:pt idx="14">
                <c:v>30.00434077479319</c:v>
              </c:pt>
              <c:pt idx="15">
                <c:v>35.00137314263658</c:v>
              </c:pt>
              <c:pt idx="16">
                <c:v>40.00043427276863</c:v>
              </c:pt>
            </c:numLit>
          </c:val>
        </c:ser>
        <c:ser>
          <c:idx val="1"/>
          <c:order val="1"/>
          <c:tx>
            <c:v>asymptote</c:v>
          </c:tx>
          <c:spPr>
            <a:ln xmlns:a="http://schemas.openxmlformats.org/drawingml/2006/main" w="23813">
              <a:solidFill>
                <a:srgbClr val="17365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7"/>
              <c:pt idx="0">
                <c:v>0.01</c:v>
              </c:pt>
              <c:pt idx="1">
                <c:v>0.02</c:v>
              </c:pt>
              <c:pt idx="2">
                <c:v>0.03</c:v>
              </c:pt>
              <c:pt idx="3">
                <c:v>0.06</c:v>
              </c:pt>
              <c:pt idx="4">
                <c:v>0.1</c:v>
              </c:pt>
              <c:pt idx="5">
                <c:v>0.18</c:v>
              </c:pt>
              <c:pt idx="6">
                <c:v>0.32</c:v>
              </c:pt>
              <c:pt idx="7">
                <c:v>0.56</c:v>
              </c:pt>
              <c:pt idx="8">
                <c:v>1</c:v>
              </c:pt>
              <c:pt idx="9">
                <c:v>1.8</c:v>
              </c:pt>
              <c:pt idx="10">
                <c:v>3.2</c:v>
              </c:pt>
              <c:pt idx="11">
                <c:v>5.6</c:v>
              </c:pt>
              <c:pt idx="12">
                <c:v>10</c:v>
              </c:pt>
              <c:pt idx="13">
                <c:v>18</c:v>
              </c:pt>
              <c:pt idx="14">
                <c:v>32</c:v>
              </c:pt>
              <c:pt idx="15">
                <c:v>56</c:v>
              </c:pt>
              <c:pt idx="16">
                <c:v>100</c:v>
              </c:pt>
            </c:numLit>
          </c:cat>
          <c:val>
            <c:numLit>
              <c:formatCode>General</c:formatCode>
              <c:ptCount val="17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4.999999999999999</c:v>
              </c:pt>
              <c:pt idx="10">
                <c:v>10</c:v>
              </c:pt>
              <c:pt idx="11">
                <c:v>15</c:v>
              </c:pt>
              <c:pt idx="12">
                <c:v>20</c:v>
              </c:pt>
              <c:pt idx="13">
                <c:v>25</c:v>
              </c:pt>
              <c:pt idx="14">
                <c:v>30</c:v>
              </c:pt>
              <c:pt idx="15">
                <c:v>35</c:v>
              </c:pt>
              <c:pt idx="16">
                <c:v>40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ω (rad/s), log-spaced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4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magnitude (dB)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2937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Exact response and asymptotic sketch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exact</c:v>
          </c:tx>
          <c:spPr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5"/>
              <c:pt idx="0">
                <c:v>0.01</c:v>
              </c:pt>
              <c:pt idx="1">
                <c:v>0.02</c:v>
              </c:pt>
              <c:pt idx="2">
                <c:v>0.03</c:v>
              </c:pt>
              <c:pt idx="3">
                <c:v>0.06</c:v>
              </c:pt>
              <c:pt idx="4">
                <c:v>0.1</c:v>
              </c:pt>
              <c:pt idx="5">
                <c:v>0.18</c:v>
              </c:pt>
              <c:pt idx="6">
                <c:v>0.32</c:v>
              </c:pt>
              <c:pt idx="7">
                <c:v>0.56</c:v>
              </c:pt>
              <c:pt idx="8">
                <c:v>1</c:v>
              </c:pt>
              <c:pt idx="9">
                <c:v>1.8</c:v>
              </c:pt>
              <c:pt idx="10">
                <c:v>3.2</c:v>
              </c:pt>
              <c:pt idx="11">
                <c:v>5.6</c:v>
              </c:pt>
              <c:pt idx="12">
                <c:v>10</c:v>
              </c:pt>
              <c:pt idx="13">
                <c:v>18</c:v>
              </c:pt>
              <c:pt idx="14">
                <c:v>32</c:v>
              </c:pt>
              <c:pt idx="15">
                <c:v>56</c:v>
              </c:pt>
              <c:pt idx="16">
                <c:v>100</c:v>
              </c:pt>
              <c:pt idx="17">
                <c:v>178</c:v>
              </c:pt>
              <c:pt idx="18">
                <c:v>316</c:v>
              </c:pt>
              <c:pt idx="19">
                <c:v>562</c:v>
              </c:pt>
              <c:pt idx="20">
                <c:v>1000</c:v>
              </c:pt>
              <c:pt idx="21">
                <c:v>1778</c:v>
              </c:pt>
              <c:pt idx="22">
                <c:v>3162</c:v>
              </c:pt>
              <c:pt idx="23">
                <c:v>5623</c:v>
              </c:pt>
              <c:pt idx="24">
                <c:v>10000</c:v>
              </c:pt>
            </c:numLit>
          </c:cat>
          <c:val>
            <c:numLit>
              <c:formatCode>General</c:formatCode>
              <c:ptCount val="25"/>
              <c:pt idx="0">
                <c:v>19.999570026744575</c:v>
              </c:pt>
              <c:pt idx="1">
                <c:v>19.99864045360311</c:v>
              </c:pt>
              <c:pt idx="2">
                <c:v>19.995702220143396</c:v>
              </c:pt>
              <c:pt idx="3">
                <c:v>19.986424032116027</c:v>
              </c:pt>
              <c:pt idx="4">
                <c:v>19.957216191999553</c:v>
              </c:pt>
              <c:pt idx="5">
                <c:v>19.866150187980537</c:v>
              </c:pt>
              <c:pt idx="6">
                <c:v>19.59037049397989</c:v>
              </c:pt>
              <c:pt idx="7">
                <c:v>18.82026411386351</c:v>
              </c:pt>
              <c:pt idx="8">
                <c:v>17.03247950841799</c:v>
              </c:pt>
              <c:pt idx="9">
                <c:v>13.940525597782852</c:v>
              </c:pt>
              <c:pt idx="10">
                <c:v>9.995659225206815</c:v>
              </c:pt>
              <c:pt idx="11">
                <c:v>6.044389331253729</c:v>
              </c:pt>
              <c:pt idx="12">
                <c:v>2.9238724809869607</c:v>
              </c:pt>
              <c:pt idx="13">
                <c:v>1.0443893312537285</c:v>
              </c:pt>
              <c:pt idx="14">
                <c:v>-0.004340774793188293</c:v>
              </c:pt>
              <c:pt idx="15">
                <c:v>-1.0594744022171458</c:v>
              </c:pt>
              <c:pt idx="16">
                <c:v>-2.967520491582014</c:v>
              </c:pt>
              <c:pt idx="17">
                <c:v>-6.17973588613649</c:v>
              </c:pt>
              <c:pt idx="18">
                <c:v>-10.409629506020108</c:v>
              </c:pt>
              <c:pt idx="19">
                <c:v>-15.133849812019465</c:v>
              </c:pt>
              <c:pt idx="20">
                <c:v>-20.042783808000447</c:v>
              </c:pt>
              <c:pt idx="21">
                <c:v>-25.013575967883973</c:v>
              </c:pt>
              <c:pt idx="22">
                <c:v>-30.004297779856604</c:v>
              </c:pt>
              <c:pt idx="23">
                <c:v>-35.00135954639689</c:v>
              </c:pt>
              <c:pt idx="24">
                <c:v>-40.00042997325543</c:v>
              </c:pt>
            </c:numLit>
          </c:val>
        </c:ser>
        <c:ser>
          <c:idx val="1"/>
          <c:order val="1"/>
          <c:tx>
            <c:v>asymptote</c:v>
          </c:tx>
          <c:spPr>
            <a:ln xmlns:a="http://schemas.openxmlformats.org/drawingml/2006/main" w="23813">
              <a:solidFill>
                <a:srgbClr val="17365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25"/>
              <c:pt idx="0">
                <c:v>0.01</c:v>
              </c:pt>
              <c:pt idx="1">
                <c:v>0.02</c:v>
              </c:pt>
              <c:pt idx="2">
                <c:v>0.03</c:v>
              </c:pt>
              <c:pt idx="3">
                <c:v>0.06</c:v>
              </c:pt>
              <c:pt idx="4">
                <c:v>0.1</c:v>
              </c:pt>
              <c:pt idx="5">
                <c:v>0.18</c:v>
              </c:pt>
              <c:pt idx="6">
                <c:v>0.32</c:v>
              </c:pt>
              <c:pt idx="7">
                <c:v>0.56</c:v>
              </c:pt>
              <c:pt idx="8">
                <c:v>1</c:v>
              </c:pt>
              <c:pt idx="9">
                <c:v>1.8</c:v>
              </c:pt>
              <c:pt idx="10">
                <c:v>3.2</c:v>
              </c:pt>
              <c:pt idx="11">
                <c:v>5.6</c:v>
              </c:pt>
              <c:pt idx="12">
                <c:v>10</c:v>
              </c:pt>
              <c:pt idx="13">
                <c:v>18</c:v>
              </c:pt>
              <c:pt idx="14">
                <c:v>32</c:v>
              </c:pt>
              <c:pt idx="15">
                <c:v>56</c:v>
              </c:pt>
              <c:pt idx="16">
                <c:v>100</c:v>
              </c:pt>
              <c:pt idx="17">
                <c:v>178</c:v>
              </c:pt>
              <c:pt idx="18">
                <c:v>316</c:v>
              </c:pt>
              <c:pt idx="19">
                <c:v>562</c:v>
              </c:pt>
              <c:pt idx="20">
                <c:v>1000</c:v>
              </c:pt>
              <c:pt idx="21">
                <c:v>1778</c:v>
              </c:pt>
              <c:pt idx="22">
                <c:v>3162</c:v>
              </c:pt>
              <c:pt idx="23">
                <c:v>5623</c:v>
              </c:pt>
              <c:pt idx="24">
                <c:v>10000</c:v>
              </c:pt>
            </c:numLit>
          </c:cat>
          <c:val>
            <c:numLit>
              <c:formatCode>General</c:formatCode>
              <c:ptCount val="25"/>
              <c:pt idx="0">
                <c:v>20</c:v>
              </c:pt>
              <c:pt idx="1">
                <c:v>20</c:v>
              </c:pt>
              <c:pt idx="2">
                <c:v>20</c:v>
              </c:pt>
              <c:pt idx="3">
                <c:v>20</c:v>
              </c:pt>
              <c:pt idx="4">
                <c:v>20</c:v>
              </c:pt>
              <c:pt idx="5">
                <c:v>20</c:v>
              </c:pt>
              <c:pt idx="6">
                <c:v>20</c:v>
              </c:pt>
              <c:pt idx="7">
                <c:v>20</c:v>
              </c:pt>
              <c:pt idx="8">
                <c:v>20</c:v>
              </c:pt>
              <c:pt idx="9">
                <c:v>15</c:v>
              </c:pt>
              <c:pt idx="10">
                <c:v>10</c:v>
              </c:pt>
              <c:pt idx="11">
                <c:v>5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-0</c:v>
              </c:pt>
              <c:pt idx="17">
                <c:v>-4.999999999999999</c:v>
              </c:pt>
              <c:pt idx="18">
                <c:v>-10</c:v>
              </c:pt>
              <c:pt idx="19">
                <c:v>-15</c:v>
              </c:pt>
              <c:pt idx="20">
                <c:v>-20</c:v>
              </c:pt>
              <c:pt idx="21">
                <c:v>-25</c:v>
              </c:pt>
              <c:pt idx="22">
                <c:v>-30</c:v>
              </c:pt>
              <c:pt idx="23">
                <c:v>-35</c:v>
              </c:pt>
              <c:pt idx="24">
                <c:v>-40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ω (rad/s), log-spaced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4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magnitude (dB)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2937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Exact phase response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phase</c:v>
          </c:tx>
          <c:spPr>
            <a:ln xmlns:a="http://schemas.openxmlformats.org/drawingml/2006/main" w="28575">
              <a:solidFill>
                <a:srgbClr val="ED9E1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5"/>
              <c:pt idx="0">
                <c:v>0.01</c:v>
              </c:pt>
              <c:pt idx="1">
                <c:v>0.02</c:v>
              </c:pt>
              <c:pt idx="2">
                <c:v>0.03</c:v>
              </c:pt>
              <c:pt idx="3">
                <c:v>0.06</c:v>
              </c:pt>
              <c:pt idx="4">
                <c:v>0.1</c:v>
              </c:pt>
              <c:pt idx="5">
                <c:v>0.18</c:v>
              </c:pt>
              <c:pt idx="6">
                <c:v>0.32</c:v>
              </c:pt>
              <c:pt idx="7">
                <c:v>0.56</c:v>
              </c:pt>
              <c:pt idx="8">
                <c:v>1</c:v>
              </c:pt>
              <c:pt idx="9">
                <c:v>1.8</c:v>
              </c:pt>
              <c:pt idx="10">
                <c:v>3.2</c:v>
              </c:pt>
              <c:pt idx="11">
                <c:v>5.6</c:v>
              </c:pt>
              <c:pt idx="12">
                <c:v>10</c:v>
              </c:pt>
              <c:pt idx="13">
                <c:v>18</c:v>
              </c:pt>
              <c:pt idx="14">
                <c:v>32</c:v>
              </c:pt>
              <c:pt idx="15">
                <c:v>56</c:v>
              </c:pt>
              <c:pt idx="16">
                <c:v>100</c:v>
              </c:pt>
              <c:pt idx="17">
                <c:v>178</c:v>
              </c:pt>
              <c:pt idx="18">
                <c:v>316</c:v>
              </c:pt>
              <c:pt idx="19">
                <c:v>562</c:v>
              </c:pt>
              <c:pt idx="20">
                <c:v>1000</c:v>
              </c:pt>
              <c:pt idx="21">
                <c:v>1778</c:v>
              </c:pt>
              <c:pt idx="22">
                <c:v>3162</c:v>
              </c:pt>
              <c:pt idx="23">
                <c:v>5623</c:v>
              </c:pt>
              <c:pt idx="24">
                <c:v>10000</c:v>
              </c:pt>
            </c:numLit>
          </c:cat>
          <c:val>
            <c:numLit>
              <c:formatCode>General</c:formatCode>
              <c:ptCount val="25"/>
              <c:pt idx="0">
                <c:v>-0.521372515201195</c:v>
              </c:pt>
              <c:pt idx="1">
                <c:v>-0.9270726637939501</c:v>
              </c:pt>
              <c:pt idx="2">
                <c:v>-1.648182003452405</c:v>
              </c:pt>
              <c:pt idx="3">
                <c:v>-2.9286139554476023</c:v>
              </c:pt>
              <c:pt idx="4">
                <c:v>-5.194950200230658</c:v>
              </c:pt>
              <c:pt idx="5">
                <c:v>-9.166500177087526</c:v>
              </c:pt>
              <c:pt idx="6">
                <c:v>-15.918337126093562</c:v>
              </c:pt>
              <c:pt idx="7">
                <c:v>-26.454452675917125</c:v>
              </c:pt>
              <c:pt idx="8">
                <c:v>-39.86234556018384</c:v>
              </c:pt>
              <c:pt idx="9">
                <c:v>-51.58454077032186</c:v>
              </c:pt>
              <c:pt idx="10">
                <c:v>-56.71444681974337</c:v>
              </c:pt>
              <c:pt idx="11">
                <c:v>-53.78435772318598</c:v>
              </c:pt>
              <c:pt idx="12">
                <c:v>-45.00000000000001</c:v>
              </c:pt>
              <c:pt idx="13">
                <c:v>-36.21564227681404</c:v>
              </c:pt>
              <c:pt idx="14">
                <c:v>-33.28555318025663</c:v>
              </c:pt>
              <c:pt idx="15">
                <c:v>-38.41545922967814</c:v>
              </c:pt>
              <c:pt idx="16">
                <c:v>-50.13765443981616</c:v>
              </c:pt>
              <c:pt idx="17">
                <c:v>-63.54554732408287</c:v>
              </c:pt>
              <c:pt idx="18">
                <c:v>-74.08166287390644</c:v>
              </c:pt>
              <c:pt idx="19">
                <c:v>-80.83349982291249</c:v>
              </c:pt>
              <c:pt idx="20">
                <c:v>-84.80504979976935</c:v>
              </c:pt>
              <c:pt idx="21">
                <c:v>-87.07138604455241</c:v>
              </c:pt>
              <c:pt idx="22">
                <c:v>-88.35181799654761</c:v>
              </c:pt>
              <c:pt idx="23">
                <c:v>-89.07292733620604</c:v>
              </c:pt>
              <c:pt idx="24">
                <c:v>-89.4786274847988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ω (rad/s), log-spaced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4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degrees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Second-order magnitude response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ζ = 0.2</c:v>
          </c:tx>
          <c:spPr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9"/>
              <c:pt idx="0">
                <c:v>0.1</c:v>
              </c:pt>
              <c:pt idx="1">
                <c:v>0.13</c:v>
              </c:pt>
              <c:pt idx="2">
                <c:v>0.17</c:v>
              </c:pt>
              <c:pt idx="3">
                <c:v>0.23</c:v>
              </c:pt>
              <c:pt idx="4">
                <c:v>0.3</c:v>
              </c:pt>
              <c:pt idx="5">
                <c:v>0.39</c:v>
              </c:pt>
              <c:pt idx="6">
                <c:v>0.51</c:v>
              </c:pt>
              <c:pt idx="7">
                <c:v>0.67</c:v>
              </c:pt>
              <c:pt idx="8">
                <c:v>0.88</c:v>
              </c:pt>
              <c:pt idx="9">
                <c:v>1.2</c:v>
              </c:pt>
              <c:pt idx="10">
                <c:v>1.5</c:v>
              </c:pt>
              <c:pt idx="11">
                <c:v>2</c:v>
              </c:pt>
              <c:pt idx="12">
                <c:v>2.6</c:v>
              </c:pt>
              <c:pt idx="13">
                <c:v>3.4</c:v>
              </c:pt>
              <c:pt idx="14">
                <c:v>4.5</c:v>
              </c:pt>
              <c:pt idx="15">
                <c:v>5.9</c:v>
              </c:pt>
              <c:pt idx="16">
                <c:v>7.7</c:v>
              </c:pt>
              <c:pt idx="17">
                <c:v>10</c:v>
              </c:pt>
              <c:pt idx="18">
                <c:v>13</c:v>
              </c:pt>
              <c:pt idx="19">
                <c:v>17</c:v>
              </c:pt>
              <c:pt idx="20">
                <c:v>23</c:v>
              </c:pt>
              <c:pt idx="21">
                <c:v>30</c:v>
              </c:pt>
              <c:pt idx="22">
                <c:v>39</c:v>
              </c:pt>
              <c:pt idx="23">
                <c:v>51</c:v>
              </c:pt>
              <c:pt idx="24">
                <c:v>67</c:v>
              </c:pt>
              <c:pt idx="25">
                <c:v>88</c:v>
              </c:pt>
              <c:pt idx="26">
                <c:v>116</c:v>
              </c:pt>
              <c:pt idx="27">
                <c:v>152</c:v>
              </c:pt>
              <c:pt idx="28">
                <c:v>200</c:v>
              </c:pt>
            </c:numLit>
          </c:cat>
          <c:val>
            <c:numLit>
              <c:formatCode>General</c:formatCode>
              <c:ptCount val="29"/>
              <c:pt idx="0">
                <c:v>0.0007991319356503133</c:v>
              </c:pt>
              <c:pt idx="1">
                <c:v>0.0013751325383883069</c:v>
              </c:pt>
              <c:pt idx="2">
                <c:v>0.0023663507912136386</c:v>
              </c:pt>
              <c:pt idx="3">
                <c:v>0.004072192613399378</c:v>
              </c:pt>
              <c:pt idx="4">
                <c:v>0.007008138200943836</c:v>
              </c:pt>
              <c:pt idx="5">
                <c:v>0.012062027284951149</c:v>
              </c:pt>
              <c:pt idx="6">
                <c:v>0.020764070739630408</c:v>
              </c:pt>
              <c:pt idx="7">
                <c:v>0.03575469313976189</c:v>
              </c:pt>
              <c:pt idx="8">
                <c:v>0.061599155173480406</c:v>
              </c:pt>
              <c:pt idx="9">
                <c:v>0.10621791584703263</c:v>
              </c:pt>
              <c:pt idx="10">
                <c:v>0.1834337437637671</c:v>
              </c:pt>
              <c:pt idx="11">
                <c:v>0.3176144182848275</c:v>
              </c:pt>
              <c:pt idx="12">
                <c:v>0.5524589487956155</c:v>
              </c:pt>
              <c:pt idx="13">
                <c:v>0.968611690566695</c:v>
              </c:pt>
              <c:pt idx="14">
                <c:v>1.7218990201747795</c:v>
              </c:pt>
              <c:pt idx="15">
                <c:v>3.1323330102778573</c:v>
              </c:pt>
              <c:pt idx="16">
                <c:v>5.81726371527605</c:v>
              </c:pt>
              <c:pt idx="17">
                <c:v>7.880035209595078</c:v>
              </c:pt>
              <c:pt idx="18">
                <c:v>0.750539107448549</c:v>
              </c:pt>
              <c:pt idx="19">
                <c:v>-6.553154711159269</c:v>
              </c:pt>
              <c:pt idx="20">
                <c:v>-12.623733498278984</c:v>
              </c:pt>
              <c:pt idx="21">
                <c:v>-18.064093173357097</c:v>
              </c:pt>
              <c:pt idx="22">
                <c:v>-23.180150618717654</c:v>
              </c:pt>
              <c:pt idx="23">
                <c:v>-28.121382933794507</c:v>
              </c:pt>
              <c:pt idx="24">
                <c:v>-32.96540866126688</c:v>
              </c:pt>
              <c:pt idx="25">
                <c:v>-37.75437866728646</c:v>
              </c:pt>
              <c:pt idx="26">
                <c:v>-42.511828294537494</c:v>
              </c:pt>
              <c:pt idx="27">
                <c:v>-47.251118462159326</c:v>
              </c:pt>
              <c:pt idx="28">
                <c:v>-51.97990846866847</c:v>
              </c:pt>
            </c:numLit>
          </c:val>
        </c:ser>
        <c:ser>
          <c:idx val="1"/>
          <c:order val="1"/>
          <c:tx>
            <c:v>ζ = 0.5</c:v>
          </c:tx>
          <c:spPr>
            <a:ln xmlns:a="http://schemas.openxmlformats.org/drawingml/2006/main" w="23813">
              <a:solidFill>
                <a:srgbClr val="ED9E1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9"/>
              <c:pt idx="0">
                <c:v>0.1</c:v>
              </c:pt>
              <c:pt idx="1">
                <c:v>0.13</c:v>
              </c:pt>
              <c:pt idx="2">
                <c:v>0.17</c:v>
              </c:pt>
              <c:pt idx="3">
                <c:v>0.23</c:v>
              </c:pt>
              <c:pt idx="4">
                <c:v>0.3</c:v>
              </c:pt>
              <c:pt idx="5">
                <c:v>0.39</c:v>
              </c:pt>
              <c:pt idx="6">
                <c:v>0.51</c:v>
              </c:pt>
              <c:pt idx="7">
                <c:v>0.67</c:v>
              </c:pt>
              <c:pt idx="8">
                <c:v>0.88</c:v>
              </c:pt>
              <c:pt idx="9">
                <c:v>1.2</c:v>
              </c:pt>
              <c:pt idx="10">
                <c:v>1.5</c:v>
              </c:pt>
              <c:pt idx="11">
                <c:v>2</c:v>
              </c:pt>
              <c:pt idx="12">
                <c:v>2.6</c:v>
              </c:pt>
              <c:pt idx="13">
                <c:v>3.4</c:v>
              </c:pt>
              <c:pt idx="14">
                <c:v>4.5</c:v>
              </c:pt>
              <c:pt idx="15">
                <c:v>5.9</c:v>
              </c:pt>
              <c:pt idx="16">
                <c:v>7.7</c:v>
              </c:pt>
              <c:pt idx="17">
                <c:v>10</c:v>
              </c:pt>
              <c:pt idx="18">
                <c:v>13</c:v>
              </c:pt>
              <c:pt idx="19">
                <c:v>17</c:v>
              </c:pt>
              <c:pt idx="20">
                <c:v>23</c:v>
              </c:pt>
              <c:pt idx="21">
                <c:v>30</c:v>
              </c:pt>
              <c:pt idx="22">
                <c:v>39</c:v>
              </c:pt>
              <c:pt idx="23">
                <c:v>51</c:v>
              </c:pt>
              <c:pt idx="24">
                <c:v>67</c:v>
              </c:pt>
              <c:pt idx="25">
                <c:v>88</c:v>
              </c:pt>
              <c:pt idx="26">
                <c:v>116</c:v>
              </c:pt>
              <c:pt idx="27">
                <c:v>152</c:v>
              </c:pt>
              <c:pt idx="28">
                <c:v>200</c:v>
              </c:pt>
            </c:numLit>
          </c:cat>
          <c:val>
            <c:numLit>
              <c:formatCode>General</c:formatCode>
              <c:ptCount val="29"/>
              <c:pt idx="0">
                <c:v>0.0004342727642846472</c:v>
              </c:pt>
              <c:pt idx="1">
                <c:v>0.000747241909426174</c:v>
              </c:pt>
              <c:pt idx="2">
                <c:v>0.001285726386121655</c:v>
              </c:pt>
              <c:pt idx="3">
                <c:v>0.002212159530230433</c:v>
              </c:pt>
              <c:pt idx="4">
                <c:v>0.00380584252138543</c:v>
              </c:pt>
              <c:pt idx="5">
                <c:v>0.006546774319222975</c:v>
              </c:pt>
              <c:pt idx="6">
                <c:v>0.011259108761252494</c:v>
              </c:pt>
              <c:pt idx="7">
                <c:v>0.019355636877862386</c:v>
              </c:pt>
              <c:pt idx="8">
                <c:v>0.033251337115397996</c:v>
              </c:pt>
              <c:pt idx="9">
                <c:v>0.057053214400046647</c:v>
              </c:pt>
              <c:pt idx="10">
                <c:v>0.09767960948804749</c:v>
              </c:pt>
              <c:pt idx="11">
                <c:v>0.16656884055037002</c:v>
              </c:pt>
              <c:pt idx="12">
                <c:v>0.28188741173223403</c:v>
              </c:pt>
              <c:pt idx="13">
                <c:v>0.46969736030816533</c:v>
              </c:pt>
              <c:pt idx="14">
                <c:v>0.7557365490083796</c:v>
              </c:pt>
              <c:pt idx="15">
                <c:v>1.1095342283272358</c:v>
              </c:pt>
              <c:pt idx="16">
                <c:v>1.201923368115304</c:v>
              </c:pt>
              <c:pt idx="17">
                <c:v>-0.07260322735216607</c:v>
              </c:pt>
              <c:pt idx="18">
                <c:v>-3.6373952337177258</c:v>
              </c:pt>
              <c:pt idx="19">
                <c:v>-8.482058498118963</c:v>
              </c:pt>
              <c:pt idx="20">
                <c:v>-13.550199475792743</c:v>
              </c:pt>
              <c:pt idx="21">
                <c:v>-18.54429413054752</c:v>
              </c:pt>
              <c:pt idx="22">
                <c:v>-23.441154678228497</c:v>
              </c:pt>
              <c:pt idx="23">
                <c:v>-28.26727737082642</c:v>
              </c:pt>
              <c:pt idx="24">
                <c:v>-33.04830099738715</c:v>
              </c:pt>
              <c:pt idx="25">
                <c:v>-37.8019235151807</c:v>
              </c:pt>
              <c:pt idx="26">
                <c:v>-42.53924911429736</c:v>
              </c:pt>
              <c:pt idx="27">
                <c:v>-47.2669836042784</c:v>
              </c:pt>
              <c:pt idx="28">
                <c:v>-51.98910476283142</c:v>
              </c:pt>
            </c:numLit>
          </c:val>
        </c:ser>
        <c:ser>
          <c:idx val="2"/>
          <c:order val="2"/>
          <c:tx>
            <c:v>ζ = 1.0</c:v>
          </c:tx>
          <c:spPr>
            <a:ln xmlns:a="http://schemas.openxmlformats.org/drawingml/2006/main" w="23813">
              <a:solidFill>
                <a:srgbClr val="17365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9"/>
              <c:pt idx="0">
                <c:v>0.1</c:v>
              </c:pt>
              <c:pt idx="1">
                <c:v>0.13</c:v>
              </c:pt>
              <c:pt idx="2">
                <c:v>0.17</c:v>
              </c:pt>
              <c:pt idx="3">
                <c:v>0.23</c:v>
              </c:pt>
              <c:pt idx="4">
                <c:v>0.3</c:v>
              </c:pt>
              <c:pt idx="5">
                <c:v>0.39</c:v>
              </c:pt>
              <c:pt idx="6">
                <c:v>0.51</c:v>
              </c:pt>
              <c:pt idx="7">
                <c:v>0.67</c:v>
              </c:pt>
              <c:pt idx="8">
                <c:v>0.88</c:v>
              </c:pt>
              <c:pt idx="9">
                <c:v>1.2</c:v>
              </c:pt>
              <c:pt idx="10">
                <c:v>1.5</c:v>
              </c:pt>
              <c:pt idx="11">
                <c:v>2</c:v>
              </c:pt>
              <c:pt idx="12">
                <c:v>2.6</c:v>
              </c:pt>
              <c:pt idx="13">
                <c:v>3.4</c:v>
              </c:pt>
              <c:pt idx="14">
                <c:v>4.5</c:v>
              </c:pt>
              <c:pt idx="15">
                <c:v>5.9</c:v>
              </c:pt>
              <c:pt idx="16">
                <c:v>7.7</c:v>
              </c:pt>
              <c:pt idx="17">
                <c:v>10</c:v>
              </c:pt>
              <c:pt idx="18">
                <c:v>13</c:v>
              </c:pt>
              <c:pt idx="19">
                <c:v>17</c:v>
              </c:pt>
              <c:pt idx="20">
                <c:v>23</c:v>
              </c:pt>
              <c:pt idx="21">
                <c:v>30</c:v>
              </c:pt>
              <c:pt idx="22">
                <c:v>39</c:v>
              </c:pt>
              <c:pt idx="23">
                <c:v>51</c:v>
              </c:pt>
              <c:pt idx="24">
                <c:v>67</c:v>
              </c:pt>
              <c:pt idx="25">
                <c:v>88</c:v>
              </c:pt>
              <c:pt idx="26">
                <c:v>116</c:v>
              </c:pt>
              <c:pt idx="27">
                <c:v>152</c:v>
              </c:pt>
              <c:pt idx="28">
                <c:v>200</c:v>
              </c:pt>
            </c:numLit>
          </c:cat>
          <c:val>
            <c:numLit>
              <c:formatCode>General</c:formatCode>
              <c:ptCount val="29"/>
              <c:pt idx="0">
                <c:v>-0.0008685455372525725</c:v>
              </c:pt>
              <c:pt idx="1">
                <c:v>-0.0014944838631067694</c:v>
              </c:pt>
              <c:pt idx="2">
                <c:v>-0.002571452997722078</c:v>
              </c:pt>
              <c:pt idx="3">
                <c:v>-0.004424320209257741</c:v>
              </c:pt>
              <c:pt idx="4">
                <c:v>-0.007611690895867662</c:v>
              </c:pt>
              <c:pt idx="5">
                <c:v>-0.013093578459884278</c:v>
              </c:pt>
              <c:pt idx="6">
                <c:v>-0.02251836946226799</c:v>
              </c:pt>
              <c:pt idx="7">
                <c:v>-0.03871204788641853</c:v>
              </c:pt>
              <c:pt idx="8">
                <c:v>-0.0665066184138697</c:v>
              </c:pt>
              <c:pt idx="9">
                <c:v>-0.11412652433259213</c:v>
              </c:pt>
              <c:pt idx="10">
                <c:v>-0.1954616049153543</c:v>
              </c:pt>
              <c:pt idx="11">
                <c:v>-0.3336593232725835</c:v>
              </c:pt>
              <c:pt idx="12">
                <c:v>-0.5664322554329059</c:v>
              </c:pt>
              <c:pt idx="13">
                <c:v>-0.9529258213868532</c:v>
              </c:pt>
              <c:pt idx="14">
                <c:v>-1.5801949930513295</c:v>
              </c:pt>
              <c:pt idx="15">
                <c:v>-2.5636672190152607</c:v>
              </c:pt>
              <c:pt idx="16">
                <c:v>-4.032223144315608</c:v>
              </c:pt>
              <c:pt idx="17">
                <c:v>-6.09232217847617</c:v>
              </c:pt>
              <c:pt idx="18">
                <c:v>-8.784351613165004</c:v>
              </c:pt>
              <c:pt idx="19">
                <c:v>-12.062961508680758</c:v>
              </c:pt>
              <c:pt idx="20">
                <c:v>-15.819031140584851</c:v>
              </c:pt>
              <c:pt idx="21">
                <c:v>-19.92367222696448</c:v>
              </c:pt>
              <c:pt idx="22">
                <c:v>-24.262955535641503</c:v>
              </c:pt>
              <c:pt idx="23">
                <c:v>-28.751632169155688</c:v>
              </c:pt>
              <c:pt idx="24">
                <c:v>-33.33206219864063</c:v>
              </c:pt>
              <c:pt idx="25">
                <c:v>-37.967599748236196</c:v>
              </c:pt>
              <c:pt idx="26">
                <c:v>-42.63579105924152</c:v>
              </c:pt>
              <c:pt idx="27">
                <c:v>-47.323176349972115</c:v>
              </c:pt>
              <c:pt idx="28">
                <c:v>-52.021790611999215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ω (rad/s), log-spaced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5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magnitude (dB)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2937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82" name="Rectangle 1026">
            <a:extLst xmlns:a="http://schemas.openxmlformats.org/drawingml/2006/main">
              <a:ext uri="{FF2B5EF4-FFF2-40B4-BE49-F238E27FC236}">
                <a16:creationId xmlns:a16="http://schemas.microsoft.com/office/drawing/2014/main" id="{68B33D87-39B2-40E4-B573-D6EC57588C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39881" y="417655"/>
            <a:ext cx="8512175" cy="75971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600">
                <a:latin typeface="Segoe UI"/>
                <a:ea typeface="Segoe UI"/>
                <a:cs typeface="Segoe UI"/>
              </a:rPr>
              <a:t>EEL 3135 Systems and Signals</a:t>
            </a:r>
          </a:p>
        </p:txBody>
      </p:sp>
      <p:sp>
        <p:nvSpPr>
          <p:cNvPr id="20483" name="Rectangle 1027">
            <a:extLst xmlns:a="http://schemas.openxmlformats.org/drawingml/2006/main">
              <a:ext uri="{FF2B5EF4-FFF2-40B4-BE49-F238E27FC236}">
                <a16:creationId xmlns:a16="http://schemas.microsoft.com/office/drawing/2014/main" id="{98D5AC6A-7FDD-4DBE-844F-C71ACA5E8B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4800" y="1412303"/>
            <a:ext cx="11326585" cy="1143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600">
                <a:latin typeface="Segoe UI"/>
                <a:ea typeface="Segoe UI"/>
                <a:cs typeface="Segoe UI"/>
              </a:rPr>
              <a:t>Frequency Response and Bode Plots</a:t>
            </a:r>
          </a:p>
        </p:txBody>
      </p:sp>
      <p:sp>
        <p:nvSpPr>
          <p:cNvPr id="8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C87E8C8-4A9F-4D91-AF76-FA2511B172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rPr>
                <a:latin typeface="Segoe UI"/>
                <a:ea typeface="Segoe UI"/>
                <a:cs typeface="Segoe UI"/>
              </a:rPr>
              <a:t>1</a:t>
            </a:fld>
            <a:endParaRPr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9957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CAA1F30-0F2F-4D4E-9CAE-A0317E62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 filter question before the mathematics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9758C648-3981-4D6A-9657-7E447B18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B15A3F5-2121-4C1C-A12C-8B29ECA5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Scenario">
            <a:extLst xmlns:a="http://schemas.openxmlformats.org/drawingml/2006/main">
              <a:ext uri="{FF2B5EF4-FFF2-40B4-BE49-F238E27FC236}">
                <a16:creationId xmlns:a16="http://schemas.microsoft.com/office/drawing/2014/main" id="{19582C65-221E-4949-940D-0929C590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A sensor contains useful slow variations and unwanted high-frequency noise.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6296F324-F5ED-4D2A-BBD5-821B75E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524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Which frequencies should pass?</a:t>
            </a:r>
          </a:p>
          <a:p xmlns:a="http://schemas.openxmlformats.org/drawingml/2006/main">
            <a: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Which frequencies should be reduced?</a:t>
            </a:r>
          </a:p>
          <a:p xmlns:a="http://schemas.openxmlformats.org/drawingml/2006/main">
            <a: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How much phase shift should we expect?</a:t>
            </a:r>
          </a:p>
        </p:txBody>
      </p:sp>
      <p:sp>
        <p:nvSpPr>
          <p:cNvPr id="6" name="Answer">
            <a:extLst xmlns:a="http://schemas.openxmlformats.org/drawingml/2006/main">
              <a:ext uri="{FF2B5EF4-FFF2-40B4-BE49-F238E27FC236}">
                <a16:creationId xmlns:a16="http://schemas.microsoft.com/office/drawing/2014/main" id="{91E5F212-B319-4D24-834B-0C4749DD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A Bode plot answers these questions for many sinusoidal inputs on one pair of graphs.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436EA10-6273-4B63-891F-9E83B8226489}"/>
              </a:ext>
            </a:extLst>
          </p:cNvPr>
          <p:cNvGraphicFramePr/>
          <p:nvPr/>
        </p:nvGraphicFramePr>
        <p:xfrm>
          <a:off xmlns:a="http://schemas.openxmlformats.org/drawingml/2006/main" x="5667375" y="1104900"/>
          <a:ext xmlns:a="http://schemas.openxmlformats.org/drawingml/2006/main" cx="5619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869d268e4b4335"/>
          </a:graphicData>
        </a:graphic>
      </p:graphicFrame>
      <p:sp>
        <p:nvSpPr>
          <p:cNvPr id="8" name="Key message">
            <a:extLst xmlns:a="http://schemas.openxmlformats.org/drawingml/2006/main">
              <a:ext uri="{FF2B5EF4-FFF2-40B4-BE49-F238E27FC236}">
                <a16:creationId xmlns:a16="http://schemas.microsoft.com/office/drawing/2014/main" id="{074C3153-8A76-4410-93B3-4243DE4D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plot gives a physical answer before it becomes a construction exercise.</a:t>
            </a:r>
          </a:p>
        </p:txBody>
      </p:sp>
    </p:spTree>
    <p:extLst>
      <p:ext uri="{BB962C8B-B14F-4D97-AF65-F5344CB8AC3E}">
        <p14:creationId xmlns:p14="http://schemas.microsoft.com/office/powerpoint/2010/main" val="2118540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9D0CF0A6-ACE5-4593-A4B8-399C0A22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Sinusoidal steady-state response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4BB2358A-22AC-4618-8F01-E792282F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F3BBBD4-C538-4F42-9CD0-3AF9C9F8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Input heading">
            <a:extLst xmlns:a="http://schemas.openxmlformats.org/drawingml/2006/main">
              <a:ext uri="{FF2B5EF4-FFF2-40B4-BE49-F238E27FC236}">
                <a16:creationId xmlns:a16="http://schemas.microsoft.com/office/drawing/2014/main" id="{DC3DC9E6-EBCD-45D9-9185-BFB865D2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Input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B37E83A3-EECF-4655-9B87-A04CFA6E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x(t) = A cos(ω₀t + φ)</a:t>
            </a:r>
          </a:p>
        </p:txBody>
      </p:sp>
      <p:sp>
        <p:nvSpPr>
          <p:cNvPr id="6" name="System heading">
            <a:extLst xmlns:a="http://schemas.openxmlformats.org/drawingml/2006/main">
              <a:ext uri="{FF2B5EF4-FFF2-40B4-BE49-F238E27FC236}">
                <a16:creationId xmlns:a16="http://schemas.microsoft.com/office/drawing/2014/main" id="{0438CE7D-F3BA-4B68-98FE-9AE76865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43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Evaluate the system</a:t>
            </a:r>
          </a:p>
        </p:txBody>
      </p:sp>
      <p:sp>
        <p:nvSpPr>
          <p:cNvPr id="7" name="System">
            <a:extLst xmlns:a="http://schemas.openxmlformats.org/drawingml/2006/main">
              <a:ext uri="{FF2B5EF4-FFF2-40B4-BE49-F238E27FC236}">
                <a16:creationId xmlns:a16="http://schemas.microsoft.com/office/drawing/2014/main" id="{BA052837-07D0-4BBE-BBC4-9A923B60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H(jω₀) = |H(jω₀)|eʲᶿ</a:t>
            </a:r>
          </a:p>
        </p:txBody>
      </p:sp>
      <p:sp>
        <p:nvSpPr>
          <p:cNvPr id="8" name="Output heading">
            <a:extLst xmlns:a="http://schemas.openxmlformats.org/drawingml/2006/main">
              <a:ext uri="{FF2B5EF4-FFF2-40B4-BE49-F238E27FC236}">
                <a16:creationId xmlns:a16="http://schemas.microsoft.com/office/drawing/2014/main" id="{8CC7DAD5-BCF5-4312-BEAD-A8E875C1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430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Steady-state output</a:t>
            </a:r>
          </a:p>
        </p:txBody>
      </p:sp>
      <p:sp>
        <p:nvSpPr>
          <p:cNvPr id="9" name="Output">
            <a:extLst xmlns:a="http://schemas.openxmlformats.org/drawingml/2006/main">
              <a:ext uri="{FF2B5EF4-FFF2-40B4-BE49-F238E27FC236}">
                <a16:creationId xmlns:a16="http://schemas.microsoft.com/office/drawing/2014/main" id="{0096699B-A049-446E-AA5A-DE08B0AA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yₛₛ(t) = A|H(jω₀)|</a:t>
            </a:r>
          </a:p>
          <a:p xmlns:a="http://schemas.openxmlformats.org/drawingml/2006/main">
            <a:pPr algn="ctr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cos(ω₀t + φ + θ)</a:t>
            </a:r>
          </a:p>
        </p:txBody>
      </p:sp>
      <p:sp>
        <p:nvSpPr>
          <p:cNvPr id="10" name="Magnitude meaning">
            <a:extLst xmlns:a="http://schemas.openxmlformats.org/drawingml/2006/main">
              <a:ext uri="{FF2B5EF4-FFF2-40B4-BE49-F238E27FC236}">
                <a16:creationId xmlns:a16="http://schemas.microsoft.com/office/drawing/2014/main" id="{B86FE8DE-E12E-4558-AA41-D18D30FA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Magnitude changes amplitude</a:t>
            </a:r>
          </a:p>
        </p:txBody>
      </p:sp>
      <p:sp>
        <p:nvSpPr>
          <p:cNvPr id="11" name="Phase meaning">
            <a:extLst xmlns:a="http://schemas.openxmlformats.org/drawingml/2006/main">
              <a:ext uri="{FF2B5EF4-FFF2-40B4-BE49-F238E27FC236}">
                <a16:creationId xmlns:a16="http://schemas.microsoft.com/office/drawing/2014/main" id="{F033E371-C987-4E67-A7FA-47DE314B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Phase shifts the sinusoid</a:t>
            </a:r>
          </a:p>
        </p:txBody>
      </p:sp>
      <p:sp>
        <p:nvSpPr>
          <p:cNvPr id="12" name="Condition">
            <a:extLst xmlns:a="http://schemas.openxmlformats.org/drawingml/2006/main">
              <a:ext uri="{FF2B5EF4-FFF2-40B4-BE49-F238E27FC236}">
                <a16:creationId xmlns:a16="http://schemas.microsoft.com/office/drawing/2014/main" id="{30613C24-F8CA-4116-ACBA-8BD00420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The system must be stable for its transient terms to decay.</a:t>
            </a:r>
          </a:p>
        </p:txBody>
      </p:sp>
      <p:sp>
        <p:nvSpPr>
          <p:cNvPr id="13" name="Key message">
            <a:extLst xmlns:a="http://schemas.openxmlformats.org/drawingml/2006/main">
              <a:ext uri="{FF2B5EF4-FFF2-40B4-BE49-F238E27FC236}">
                <a16:creationId xmlns:a16="http://schemas.microsoft.com/office/drawing/2014/main" id="{6FB5F492-9336-4689-B2B8-EF15B0ED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output keeps the input frequency. Only amplitude and phase change.</a:t>
            </a:r>
          </a:p>
        </p:txBody>
      </p:sp>
    </p:spTree>
    <p:extLst>
      <p:ext uri="{BB962C8B-B14F-4D97-AF65-F5344CB8AC3E}">
        <p14:creationId xmlns:p14="http://schemas.microsoft.com/office/powerpoint/2010/main" val="401060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2FC0131-1F97-49EF-B7C2-91DAE2F0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Anatomy of a Bode plot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E24F2460-30D0-49DE-A9F8-3E603EE5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EF61D1E-1806-40A8-B904-AA65D754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E39362B-7D05-4B40-A19F-26080876043C}"/>
              </a:ext>
            </a:extLst>
          </p:cNvPr>
          <p:cNvGraphicFramePr/>
          <p:nvPr/>
        </p:nvGraphicFramePr>
        <p:xfrm>
          <a:off xmlns:a="http://schemas.openxmlformats.org/drawingml/2006/main" x="523875" y="1000125"/>
          <a:ext xmlns:a="http://schemas.openxmlformats.org/drawingml/2006/main" cx="54292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9f26c08c5b437a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8BA89EC-C43B-46B2-A87B-C0EBE3A0F0C5}"/>
              </a:ext>
            </a:extLst>
          </p:cNvPr>
          <p:cNvGraphicFramePr/>
          <p:nvPr/>
        </p:nvGraphicFramePr>
        <p:xfrm>
          <a:off xmlns:a="http://schemas.openxmlformats.org/drawingml/2006/main" x="6238875" y="1000125"/>
          <a:ext xmlns:a="http://schemas.openxmlformats.org/drawingml/2006/main" cx="54292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72503e9a334b30"/>
          </a:graphicData>
        </a:graphic>
      </p:graphicFrame>
      <p:sp>
        <p:nvSpPr>
          <p:cNvPr id="6" name="Key message">
            <a:extLst xmlns:a="http://schemas.openxmlformats.org/drawingml/2006/main">
              <a:ext uri="{FF2B5EF4-FFF2-40B4-BE49-F238E27FC236}">
                <a16:creationId xmlns:a16="http://schemas.microsoft.com/office/drawing/2014/main" id="{F553FEE0-D2E6-4430-A126-3CA6F424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Equal horizontal distances represent equal frequency ratios, such as 1 to 10 and 10 to 100.</a:t>
            </a:r>
          </a:p>
        </p:txBody>
      </p:sp>
    </p:spTree>
    <p:extLst>
      <p:ext uri="{BB962C8B-B14F-4D97-AF65-F5344CB8AC3E}">
        <p14:creationId xmlns:p14="http://schemas.microsoft.com/office/powerpoint/2010/main" val="1198844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AED48962-716E-44EF-A379-49A4500D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Activity 1: Predict the output sinusoid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C6FDA782-6AF2-453E-9A74-F7B2E49B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CD60320-DAB7-458F-8B9A-887F8415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Given">
            <a:extLst xmlns:a="http://schemas.openxmlformats.org/drawingml/2006/main">
              <a:ext uri="{FF2B5EF4-FFF2-40B4-BE49-F238E27FC236}">
                <a16:creationId xmlns:a16="http://schemas.microsoft.com/office/drawing/2014/main" id="{CF041196-F9E7-4A07-B74E-FE688BD6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At ω = 10 rad/s, a Bode plot gives</a:t>
            </a:r>
          </a:p>
          <a:p xmlns:a="http://schemas.openxmlformats.org/drawingml/2006/main">
            <a: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|H(j10)| = −6 dB     and     ∠H(j10) = −45°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DFC5FAE6-F392-4C09-BAAE-106B8EAE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336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Input: x(t) = 4 cos(10t + 20°)</a:t>
            </a:r>
          </a:p>
        </p:txBody>
      </p:sp>
      <p:sp>
        <p:nvSpPr>
          <p:cNvPr id="6" name="Option 1">
            <a:extLst xmlns:a="http://schemas.openxmlformats.org/drawingml/2006/main">
              <a:ext uri="{FF2B5EF4-FFF2-40B4-BE49-F238E27FC236}">
                <a16:creationId xmlns:a16="http://schemas.microsoft.com/office/drawing/2014/main" id="{A6AB7D9D-98F9-471D-95CC-F4E2CEEF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385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A. 4 cos(10t − 25°)</a:t>
            </a:r>
          </a:p>
        </p:txBody>
      </p:sp>
      <p:sp>
        <p:nvSpPr>
          <p:cNvPr id="7" name="Option 2">
            <a:extLst xmlns:a="http://schemas.openxmlformats.org/drawingml/2006/main">
              <a:ext uri="{FF2B5EF4-FFF2-40B4-BE49-F238E27FC236}">
                <a16:creationId xmlns:a16="http://schemas.microsoft.com/office/drawing/2014/main" id="{A122ACF8-54AF-4CD9-A802-16FEDA1C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909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B. 2 cos(10t − 25°)</a:t>
            </a:r>
          </a:p>
        </p:txBody>
      </p:sp>
      <p:sp>
        <p:nvSpPr>
          <p:cNvPr id="8" name="Option 3">
            <a:extLst xmlns:a="http://schemas.openxmlformats.org/drawingml/2006/main">
              <a:ext uri="{FF2B5EF4-FFF2-40B4-BE49-F238E27FC236}">
                <a16:creationId xmlns:a16="http://schemas.microsoft.com/office/drawing/2014/main" id="{8EDABCD6-562A-4288-B83F-CC1D4D6F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3434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C. 2 cos(10t − 65°)</a:t>
            </a:r>
          </a:p>
        </p:txBody>
      </p:sp>
      <p:sp>
        <p:nvSpPr>
          <p:cNvPr id="9" name="Option 4">
            <a:extLst xmlns:a="http://schemas.openxmlformats.org/drawingml/2006/main">
              <a:ext uri="{FF2B5EF4-FFF2-40B4-BE49-F238E27FC236}">
                <a16:creationId xmlns:a16="http://schemas.microsoft.com/office/drawing/2014/main" id="{31493505-7193-49AC-8B39-7834245D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958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D. −6 cos(10t − 45°)</a:t>
            </a:r>
          </a:p>
        </p:txBody>
      </p:sp>
      <p:sp>
        <p:nvSpPr>
          <p:cNvPr id="10" name="Key message">
            <a:extLst xmlns:a="http://schemas.openxmlformats.org/drawingml/2006/main">
              <a:ext uri="{FF2B5EF4-FFF2-40B4-BE49-F238E27FC236}">
                <a16:creationId xmlns:a16="http://schemas.microsoft.com/office/drawing/2014/main" id="{5ADBFC6B-0F47-41AF-91AC-C908E96D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Convert −6 dB to an amplitude ratio, then add the phases.</a:t>
            </a:r>
          </a:p>
        </p:txBody>
      </p:sp>
    </p:spTree>
    <p:extLst>
      <p:ext uri="{BB962C8B-B14F-4D97-AF65-F5344CB8AC3E}">
        <p14:creationId xmlns:p14="http://schemas.microsoft.com/office/powerpoint/2010/main" val="1216826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6C2E58E-3127-4F4E-BBE6-315B764C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Decibels as amplitude ratios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36F54111-5836-4A2F-87A1-184D8536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5FD5DDA-BB55-499B-B580-07983A49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Formula">
            <a:extLst xmlns:a="http://schemas.openxmlformats.org/drawingml/2006/main">
              <a:ext uri="{FF2B5EF4-FFF2-40B4-BE49-F238E27FC236}">
                <a16:creationId xmlns:a16="http://schemas.microsoft.com/office/drawing/2014/main" id="{911887E3-536D-4BC8-95FC-61DC9519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95250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M_dB(ω) = 20 log₁₀|H(jω)|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8CE18-517C-420F-823E-B653EAE3D457}"/>
              </a:ext>
            </a:extLst>
          </p:cNvPr>
          <p:cNvGraphicFramePr/>
          <p:nvPr/>
        </p:nvGraphicFramePr>
        <p:xfrm>
          <a:off xmlns:a="http://schemas.openxmlformats.org/drawingml/2006/main" x="1428750" y="1762125"/>
          <a:ext xmlns:a="http://schemas.openxmlformats.org/drawingml/2006/main" cx="9334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857500"/>
                <a:gridCol w="4000500"/>
              </a:tblGrid>
              <a:tr h="476250">
                <a:tc>
                  <a:txBody>
                    <a:bodyPr/>
                    <a:lstStyle/>
                    <a:p>
                      <a:r>
                        <a:t>Amplitude ratio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T w="9525">
                      <a:solidFill>
                        <a:srgbClr val="C9D4E5"/>
                      </a:solidFill>
                      <a:prstDash val="solid"/>
                    </a:lnT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Magnitude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T w="9525">
                      <a:solidFill>
                        <a:srgbClr val="C9D4E5"/>
                      </a:solidFill>
                      <a:prstDash val="solid"/>
                    </a:lnT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T w="9525">
                      <a:solidFill>
                        <a:srgbClr val="C9D4E5"/>
                      </a:solidFill>
                      <a:prstDash val="solid"/>
                    </a:lnT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+20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ten times the amplitude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approximately +6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twice the amplitude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 amplitude change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1/√2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approximately −3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corner of a first-order pole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1/2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approximately −6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half the amplitude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−20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one tenth of the amplitude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Key message">
            <a:extLst xmlns:a="http://schemas.openxmlformats.org/drawingml/2006/main">
              <a:ext uri="{FF2B5EF4-FFF2-40B4-BE49-F238E27FC236}">
                <a16:creationId xmlns:a16="http://schemas.microsoft.com/office/drawing/2014/main" id="{67137CCF-093B-43EE-97D5-D3272D62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A negative decibel value means attenuation. It does not mean a negative amplitude.</a:t>
            </a:r>
          </a:p>
        </p:txBody>
      </p:sp>
    </p:spTree>
    <p:extLst>
      <p:ext uri="{BB962C8B-B14F-4D97-AF65-F5344CB8AC3E}">
        <p14:creationId xmlns:p14="http://schemas.microsoft.com/office/powerpoint/2010/main" val="449397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8F028A3-38AD-4249-B355-649A5DD4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First-order pole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CD4B1DF2-68E9-4D41-84D0-6DD9B3D9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50310A-1DBF-44D7-8868-B0D73601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Transfer">
            <a:extLst xmlns:a="http://schemas.openxmlformats.org/drawingml/2006/main">
              <a:ext uri="{FF2B5EF4-FFF2-40B4-BE49-F238E27FC236}">
                <a16:creationId xmlns:a16="http://schemas.microsoft.com/office/drawing/2014/main" id="{E20EDA4A-DF93-4660-9757-D1541413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H(s) = 1/(1 + s/ωₚ)</a:t>
            </a:r>
          </a:p>
        </p:txBody>
      </p:sp>
      <p:sp>
        <p:nvSpPr>
          <p:cNvPr id="5" name="Regions">
            <a:extLst xmlns:a="http://schemas.openxmlformats.org/drawingml/2006/main">
              <a:ext uri="{FF2B5EF4-FFF2-40B4-BE49-F238E27FC236}">
                <a16:creationId xmlns:a16="http://schemas.microsoft.com/office/drawing/2014/main" id="{7231052E-AA49-4A81-840B-FB11601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38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ω ≪ ωₚ: 0 dB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ω = ωₚ: −3 dB and −45°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ω ≫ ωₚ: slope −20 dB/decade</a:t>
            </a:r>
          </a:p>
        </p:txBody>
      </p:sp>
      <p:sp>
        <p:nvSpPr>
          <p:cNvPr id="6" name="Reason">
            <a:extLst xmlns:a="http://schemas.openxmlformats.org/drawingml/2006/main">
              <a:ext uri="{FF2B5EF4-FFF2-40B4-BE49-F238E27FC236}">
                <a16:creationId xmlns:a16="http://schemas.microsoft.com/office/drawing/2014/main" id="{D93BF25A-4825-47E1-BEDD-9B28724A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18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Above the corner, |H| ≈ ωₚ/ω. A tenfold frequency increase gives a tenfold amplitude decrease.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7DE3F48-A08F-47B1-920E-6ED2052CA246}"/>
              </a:ext>
            </a:extLst>
          </p:cNvPr>
          <p:cNvGraphicFramePr/>
          <p:nvPr/>
        </p:nvGraphicFramePr>
        <p:xfrm>
          <a:off xmlns:a="http://schemas.openxmlformats.org/drawingml/2006/main" x="5476875" y="1095375"/>
          <a:ext xmlns:a="http://schemas.openxmlformats.org/drawingml/2006/main" cx="5905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c6f576c8a84bb8"/>
          </a:graphicData>
        </a:graphic>
      </p:graphicFrame>
      <p:sp>
        <p:nvSpPr>
          <p:cNvPr id="8" name="Key message">
            <a:extLst xmlns:a="http://schemas.openxmlformats.org/drawingml/2006/main">
              <a:ext uri="{FF2B5EF4-FFF2-40B4-BE49-F238E27FC236}">
                <a16:creationId xmlns:a16="http://schemas.microsoft.com/office/drawing/2014/main" id="{AB5FCA95-3C42-4654-82F0-CCD11B38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A real pole bends the magnitude downward after its corner frequency.</a:t>
            </a:r>
          </a:p>
        </p:txBody>
      </p:sp>
    </p:spTree>
    <p:extLst>
      <p:ext uri="{BB962C8B-B14F-4D97-AF65-F5344CB8AC3E}">
        <p14:creationId xmlns:p14="http://schemas.microsoft.com/office/powerpoint/2010/main" val="632692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DFB7CDA-D6FA-43C2-B40A-E67790D2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First-order zero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42C9A330-2B8C-4F20-A3C2-6C728ADC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113D4FB-E525-4716-B034-703408A0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Transfer">
            <a:extLst xmlns:a="http://schemas.openxmlformats.org/drawingml/2006/main">
              <a:ext uri="{FF2B5EF4-FFF2-40B4-BE49-F238E27FC236}">
                <a16:creationId xmlns:a16="http://schemas.microsoft.com/office/drawing/2014/main" id="{24BA4624-AF26-4C5D-94D3-03DEE98E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H(s) = 1 + s/ω_z</a:t>
            </a:r>
          </a:p>
        </p:txBody>
      </p:sp>
      <p:sp>
        <p:nvSpPr>
          <p:cNvPr id="5" name="Regions">
            <a:extLst xmlns:a="http://schemas.openxmlformats.org/drawingml/2006/main">
              <a:ext uri="{FF2B5EF4-FFF2-40B4-BE49-F238E27FC236}">
                <a16:creationId xmlns:a16="http://schemas.microsoft.com/office/drawing/2014/main" id="{6AF745EA-B051-4AC7-BF8A-BAB05AB6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38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ω ≪ ω_z: 0 dB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ω = ω_z: +3 dB and +45°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ω ≫ ω_z: slope +20 dB/decade</a:t>
            </a:r>
          </a:p>
        </p:txBody>
      </p:sp>
      <p:sp>
        <p:nvSpPr>
          <p:cNvPr id="6" name="Contrast">
            <a:extLst xmlns:a="http://schemas.openxmlformats.org/drawingml/2006/main">
              <a:ext uri="{FF2B5EF4-FFF2-40B4-BE49-F238E27FC236}">
                <a16:creationId xmlns:a16="http://schemas.microsoft.com/office/drawing/2014/main" id="{230E9978-E21D-4A99-B3CB-C5120EB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A pole adds negative slope and phase. A zero adds positive slope and phase.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BD750FA-939E-406E-8091-80AC9C6205DC}"/>
              </a:ext>
            </a:extLst>
          </p:cNvPr>
          <p:cNvGraphicFramePr/>
          <p:nvPr/>
        </p:nvGraphicFramePr>
        <p:xfrm>
          <a:off xmlns:a="http://schemas.openxmlformats.org/drawingml/2006/main" x="5476875" y="1095375"/>
          <a:ext xmlns:a="http://schemas.openxmlformats.org/drawingml/2006/main" cx="5905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3653ea9f034b90"/>
          </a:graphicData>
        </a:graphic>
      </p:graphicFrame>
      <p:sp>
        <p:nvSpPr>
          <p:cNvPr id="8" name="Key message">
            <a:extLst xmlns:a="http://schemas.openxmlformats.org/drawingml/2006/main">
              <a:ext uri="{FF2B5EF4-FFF2-40B4-BE49-F238E27FC236}">
                <a16:creationId xmlns:a16="http://schemas.microsoft.com/office/drawing/2014/main" id="{53B21133-D0F8-4294-A997-1611927E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A real zero bends the magnitude upward after its corner frequency.</a:t>
            </a:r>
          </a:p>
        </p:txBody>
      </p:sp>
    </p:spTree>
    <p:extLst>
      <p:ext uri="{BB962C8B-B14F-4D97-AF65-F5344CB8AC3E}">
        <p14:creationId xmlns:p14="http://schemas.microsoft.com/office/powerpoint/2010/main" val="7613079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0BF1AA9-38B5-483E-A322-AA80591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Core Bode building blocks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053E2330-5796-413B-8B53-E43106F8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8698630-4D5E-4831-A457-55EE9996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45D57-5A14-45FE-8F96-581FC27AD260}"/>
              </a:ext>
            </a:extLst>
          </p:cNvPr>
          <p:cNvGraphicFramePr/>
          <p:nvPr/>
        </p:nvGraphicFramePr>
        <p:xfrm>
          <a:off xmlns:a="http://schemas.openxmlformats.org/drawingml/2006/main" x="742950" y="1095375"/>
          <a:ext xmlns:a="http://schemas.openxmlformats.org/drawingml/2006/main" cx="10715625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762500"/>
                <a:gridCol w="3190875"/>
              </a:tblGrid>
              <a:tr h="682625">
                <a:tc>
                  <a:txBody>
                    <a:bodyPr/>
                    <a:lstStyle/>
                    <a:p>
                      <a:r>
                        <a:t>Factor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T w="9525">
                      <a:solidFill>
                        <a:srgbClr val="C9D4E5"/>
                      </a:solidFill>
                      <a:prstDash val="solid"/>
                    </a:lnT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Magnitude contribution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T w="9525">
                      <a:solidFill>
                        <a:srgbClr val="C9D4E5"/>
                      </a:solidFill>
                      <a:prstDash val="solid"/>
                    </a:lnT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Phase contribution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T w="9525">
                      <a:solidFill>
                        <a:srgbClr val="C9D4E5"/>
                      </a:solidFill>
                      <a:prstDash val="solid"/>
                    </a:lnT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positive gain 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vertical shift of 20 log₁₀K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+20 dB/decade from the start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+90°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1/s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−20 dB/decade from the start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−90°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1 + s/ω_z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+20 dB/decade after ω_z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0° toward +90°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1/(1 + s/ωₚ)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−20 dB/decade after ωₚ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0° toward −90°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Key message">
            <a:extLst xmlns:a="http://schemas.openxmlformats.org/drawingml/2006/main">
              <a:ext uri="{FF2B5EF4-FFF2-40B4-BE49-F238E27FC236}">
                <a16:creationId xmlns:a16="http://schemas.microsoft.com/office/drawing/2014/main" id="{E36CE2FE-415C-4A01-9684-DA15D8D6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Factor magnitudes add in decibels. Their phase angles also add.</a:t>
            </a:r>
          </a:p>
        </p:txBody>
      </p:sp>
    </p:spTree>
    <p:extLst>
      <p:ext uri="{BB962C8B-B14F-4D97-AF65-F5344CB8AC3E}">
        <p14:creationId xmlns:p14="http://schemas.microsoft.com/office/powerpoint/2010/main" val="14714218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77719414-7037-4DEC-B014-94DDA5EB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Activity 2: Predict the high-frequency slope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92BB12BE-328D-46D8-80CB-88835A8C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DFAE74F-180C-4B54-87D5-E3283AFC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4ACAF870-4201-4698-8AD5-E316C4F0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23950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H(s) = 10/[(1 + s/2)(1 + s/20)]</a:t>
            </a:r>
          </a:p>
        </p:txBody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3D0E2B8D-9D0E-49E9-9462-B1669BFC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What is the magnitude slope well above 20 rad/s?</a:t>
            </a:r>
          </a:p>
        </p:txBody>
      </p:sp>
      <p:sp>
        <p:nvSpPr>
          <p:cNvPr id="6" name="Option 1">
            <a:extLst xmlns:a="http://schemas.openxmlformats.org/drawingml/2006/main">
              <a:ext uri="{FF2B5EF4-FFF2-40B4-BE49-F238E27FC236}">
                <a16:creationId xmlns:a16="http://schemas.microsoft.com/office/drawing/2014/main" id="{21DE5553-403D-4FF2-9A96-8F16C631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908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A. 0 dB/decade</a:t>
            </a:r>
          </a:p>
        </p:txBody>
      </p:sp>
      <p:sp>
        <p:nvSpPr>
          <p:cNvPr id="7" name="Option 2">
            <a:extLst xmlns:a="http://schemas.openxmlformats.org/drawingml/2006/main">
              <a:ext uri="{FF2B5EF4-FFF2-40B4-BE49-F238E27FC236}">
                <a16:creationId xmlns:a16="http://schemas.microsoft.com/office/drawing/2014/main" id="{1D8D0350-30C6-42D5-A473-90CD05EC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433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B. −20 dB/decade</a:t>
            </a:r>
          </a:p>
        </p:txBody>
      </p:sp>
      <p:sp>
        <p:nvSpPr>
          <p:cNvPr id="8" name="Option 3">
            <a:extLst xmlns:a="http://schemas.openxmlformats.org/drawingml/2006/main">
              <a:ext uri="{FF2B5EF4-FFF2-40B4-BE49-F238E27FC236}">
                <a16:creationId xmlns:a16="http://schemas.microsoft.com/office/drawing/2014/main" id="{C4445F0E-5F2A-4264-8FFF-0A7D32B5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957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C. −40 dB/decade</a:t>
            </a:r>
          </a:p>
        </p:txBody>
      </p:sp>
      <p:sp>
        <p:nvSpPr>
          <p:cNvPr id="9" name="Option 4">
            <a:extLst xmlns:a="http://schemas.openxmlformats.org/drawingml/2006/main">
              <a:ext uri="{FF2B5EF4-FFF2-40B4-BE49-F238E27FC236}">
                <a16:creationId xmlns:a16="http://schemas.microsoft.com/office/drawing/2014/main" id="{E53AF446-E210-45CA-8DEA-46F38988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482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D. +20 dB/decade</a:t>
            </a:r>
          </a:p>
        </p:txBody>
      </p:sp>
      <p:sp>
        <p:nvSpPr>
          <p:cNvPr id="10" name="Key message">
            <a:extLst xmlns:a="http://schemas.openxmlformats.org/drawingml/2006/main">
              <a:ext uri="{FF2B5EF4-FFF2-40B4-BE49-F238E27FC236}">
                <a16:creationId xmlns:a16="http://schemas.microsoft.com/office/drawing/2014/main" id="{3DA6ADEF-87DF-42BC-B87E-C481D0EA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Count the pole and zero factors that are active at that frequency.</a:t>
            </a:r>
          </a:p>
        </p:txBody>
      </p:sp>
    </p:spTree>
    <p:extLst>
      <p:ext uri="{BB962C8B-B14F-4D97-AF65-F5344CB8AC3E}">
        <p14:creationId xmlns:p14="http://schemas.microsoft.com/office/powerpoint/2010/main" val="14827180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430D315-82F8-49EB-90C1-AA78864A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Worked example: gain, corners, and slopes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713EEED1-19B0-4693-A55E-EE20D486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D197CE1-4EE5-4B5E-B81B-E3A96CE9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Transfer">
            <a:extLst xmlns:a="http://schemas.openxmlformats.org/drawingml/2006/main">
              <a:ext uri="{FF2B5EF4-FFF2-40B4-BE49-F238E27FC236}">
                <a16:creationId xmlns:a16="http://schemas.microsoft.com/office/drawing/2014/main" id="{A1C9F245-BF9D-4EE9-B627-A3133EB5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9048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H(s) = 10(1 + s/10)/[(1 + s)(1 + s/100)]</a:t>
            </a:r>
          </a:p>
        </p:txBody>
      </p:sp>
      <p:sp>
        <p:nvSpPr>
          <p:cNvPr id="5" name="Gain">
            <a:extLst xmlns:a="http://schemas.openxmlformats.org/drawingml/2006/main">
              <a:ext uri="{FF2B5EF4-FFF2-40B4-BE49-F238E27FC236}">
                <a16:creationId xmlns:a16="http://schemas.microsoft.com/office/drawing/2014/main" id="{DFF59E0E-DA71-4B97-B19D-BFEA3E4D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Low-frequency gain: 10 = 20 dB</a:t>
            </a:r>
          </a:p>
        </p:txBody>
      </p:sp>
      <p:sp>
        <p:nvSpPr>
          <p:cNvPr id="6" name="Corners">
            <a:extLst xmlns:a="http://schemas.openxmlformats.org/drawingml/2006/main">
              <a:ext uri="{FF2B5EF4-FFF2-40B4-BE49-F238E27FC236}">
                <a16:creationId xmlns:a16="http://schemas.microsoft.com/office/drawing/2014/main" id="{0147F8B0-9387-4C4B-8313-F05DCC78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Corner frequencies: 1, 10, and 100 rad/s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E8A63-895A-449B-A4C7-5A69D491F6CC}"/>
              </a:ext>
            </a:extLst>
          </p:cNvPr>
          <p:cNvGraphicFramePr/>
          <p:nvPr/>
        </p:nvGraphicFramePr>
        <p:xfrm>
          <a:off xmlns:a="http://schemas.openxmlformats.org/drawingml/2006/main" x="952500" y="2571750"/>
          <a:ext xmlns:a="http://schemas.openxmlformats.org/drawingml/2006/main" cx="102870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  <a:gridCol w="2667000"/>
              </a:tblGrid>
              <a:tr h="542925">
                <a:tc>
                  <a:txBody>
                    <a:bodyPr/>
                    <a:lstStyle/>
                    <a:p>
                      <a:r>
                        <a:t>Frequency range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T w="9525">
                      <a:solidFill>
                        <a:srgbClr val="C9D4E5"/>
                      </a:solidFill>
                      <a:prstDash val="solid"/>
                    </a:lnT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Active factors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T w="9525">
                      <a:solidFill>
                        <a:srgbClr val="C9D4E5"/>
                      </a:solidFill>
                      <a:prstDash val="solid"/>
                    </a:lnT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Net slope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T w="9525">
                      <a:solidFill>
                        <a:srgbClr val="C9D4E5"/>
                      </a:solidFill>
                      <a:prstDash val="solid"/>
                    </a:lnT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ω &lt; 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 dB/decade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1 &lt; ω &lt; 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pole at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−20 dB/decade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10 &lt; ω &lt; 100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pole at 1 and zero at 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 dB/decade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ω &gt; 100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E5"/>
                      </a:solidFill>
                      <a:prstDash val="solid"/>
                    </a:lnL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two poles and one zero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−20 dB/decade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E5"/>
                      </a:solidFill>
                      <a:prstDash val="solid"/>
                    </a:lnR>
                    <a:lnB w="9525">
                      <a:solidFill>
                        <a:srgbClr val="C9D4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Key message">
            <a:extLst xmlns:a="http://schemas.openxmlformats.org/drawingml/2006/main">
              <a:ext uri="{FF2B5EF4-FFF2-40B4-BE49-F238E27FC236}">
                <a16:creationId xmlns:a16="http://schemas.microsoft.com/office/drawing/2014/main" id="{B0DCBED7-7B3B-43FC-A2C4-CAB92326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Mark the corners first. Then update the slope one factor at a time.</a:t>
            </a:r>
          </a:p>
        </p:txBody>
      </p:sp>
    </p:spTree>
    <p:extLst>
      <p:ext uri="{BB962C8B-B14F-4D97-AF65-F5344CB8AC3E}">
        <p14:creationId xmlns:p14="http://schemas.microsoft.com/office/powerpoint/2010/main" val="3080648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564E262-6424-4E4A-A594-7D28876B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Worked example: magnitude plot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4A9A6C4C-6401-421F-932A-7395D34B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A0A7C1A-7723-45C2-9BF0-0D3D1EF8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9253FE9F-6DD4-42B4-8CDA-E2D4D392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2386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20 dB below 1 rad/s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Falls to about 0 dB by 10 rad/s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Nearly flat from 10 to 100 rad/s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Falls again above 100 rad/s</a:t>
            </a:r>
          </a:p>
        </p:txBody>
      </p:sp>
      <p:sp>
        <p:nvSpPr>
          <p:cNvPr id="5" name="Reminder">
            <a:extLst xmlns:a="http://schemas.openxmlformats.org/drawingml/2006/main">
              <a:ext uri="{FF2B5EF4-FFF2-40B4-BE49-F238E27FC236}">
                <a16:creationId xmlns:a16="http://schemas.microsoft.com/office/drawing/2014/main" id="{FF51F67A-4E67-4CC8-94EC-9A45EB45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18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The exact curve rounds each corner. The straight-line sketch captures the main structure.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8D693CB-4062-48FD-BD05-08F3665109D0}"/>
              </a:ext>
            </a:extLst>
          </p:cNvPr>
          <p:cNvGraphicFramePr/>
          <p:nvPr/>
        </p:nvGraphicFramePr>
        <p:xfrm>
          <a:off xmlns:a="http://schemas.openxmlformats.org/drawingml/2006/main" x="5191125" y="1047750"/>
          <a:ext xmlns:a="http://schemas.openxmlformats.org/drawingml/2006/main" cx="6191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3a74a085ea490d"/>
          </a:graphicData>
        </a:graphic>
      </p:graphicFrame>
      <p:sp>
        <p:nvSpPr>
          <p:cNvPr id="7" name="Key message">
            <a:extLst xmlns:a="http://schemas.openxmlformats.org/drawingml/2006/main">
              <a:ext uri="{FF2B5EF4-FFF2-40B4-BE49-F238E27FC236}">
                <a16:creationId xmlns:a16="http://schemas.microsoft.com/office/drawing/2014/main" id="{10F965C2-BE2B-47B2-BDA9-2935C6C2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hand sketch predicts the regions. Software verifies the smooth transitions.</a:t>
            </a:r>
          </a:p>
        </p:txBody>
      </p:sp>
    </p:spTree>
    <p:extLst>
      <p:ext uri="{BB962C8B-B14F-4D97-AF65-F5344CB8AC3E}">
        <p14:creationId xmlns:p14="http://schemas.microsoft.com/office/powerpoint/2010/main" val="1130763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69163F2-27C7-4AF6-BB92-BB271AD4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Worked example: phase and output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9ABB12FF-4126-413F-AE72-BE5B60B1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A6911A9-CF53-4F73-86C8-48C73490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Phase formula">
            <a:extLst xmlns:a="http://schemas.openxmlformats.org/drawingml/2006/main">
              <a:ext uri="{FF2B5EF4-FFF2-40B4-BE49-F238E27FC236}">
                <a16:creationId xmlns:a16="http://schemas.microsoft.com/office/drawing/2014/main" id="{B59E73C9-231E-42B2-B81A-7BD35CD6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∠H(jω) = tan⁻¹(ω/10) − tan⁻¹(ω) − tan⁻¹(ω/100)</a:t>
            </a:r>
          </a:p>
        </p:txBody>
      </p:sp>
      <p:sp>
        <p:nvSpPr>
          <p:cNvPr id="5" name="At ten">
            <a:extLst xmlns:a="http://schemas.openxmlformats.org/drawingml/2006/main">
              <a:ext uri="{FF2B5EF4-FFF2-40B4-BE49-F238E27FC236}">
                <a16:creationId xmlns:a16="http://schemas.microsoft.com/office/drawing/2014/main" id="{175A69F3-C290-492B-A63A-04086613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At ω = 10 rad/s</a:t>
            </a:r>
          </a:p>
          <a:p xmlns:a="http://schemas.openxmlformats.org/drawingml/2006/main">
            <a: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|H(j10)| ≈ 1.40</a:t>
            </a:r>
          </a:p>
          <a:p xmlns:a="http://schemas.openxmlformats.org/drawingml/2006/main">
            <a: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∠H(j10) = −45°</a:t>
            </a:r>
          </a:p>
        </p:txBody>
      </p:sp>
      <p:sp>
        <p:nvSpPr>
          <p:cNvPr id="6" name="Input output">
            <a:extLst xmlns:a="http://schemas.openxmlformats.org/drawingml/2006/main">
              <a:ext uri="{FF2B5EF4-FFF2-40B4-BE49-F238E27FC236}">
                <a16:creationId xmlns:a16="http://schemas.microsoft.com/office/drawing/2014/main" id="{4C68FABF-7AC5-4844-8D4A-DF56AC90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419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x(t) = 2 cos(10t)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yₛₛ(t) ≈ 2.80 cos(10t − 45°)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B2A6D53-4F63-4408-8CFF-323620F21271}"/>
              </a:ext>
            </a:extLst>
          </p:cNvPr>
          <p:cNvGraphicFramePr/>
          <p:nvPr/>
        </p:nvGraphicFramePr>
        <p:xfrm>
          <a:off xmlns:a="http://schemas.openxmlformats.org/drawingml/2006/main" x="5238750" y="1571625"/>
          <a:ext xmlns:a="http://schemas.openxmlformats.org/drawingml/2006/main" cx="6096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1d5de3971b4419"/>
          </a:graphicData>
        </a:graphic>
      </p:graphicFrame>
      <p:sp>
        <p:nvSpPr>
          <p:cNvPr id="8" name="Key message">
            <a:extLst xmlns:a="http://schemas.openxmlformats.org/drawingml/2006/main">
              <a:ext uri="{FF2B5EF4-FFF2-40B4-BE49-F238E27FC236}">
                <a16:creationId xmlns:a16="http://schemas.microsoft.com/office/drawing/2014/main" id="{4C0FD255-4221-4003-85D5-0CCBA31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Read magnitude and phase at the input frequency, then apply both to the sinusoid.</a:t>
            </a:r>
          </a:p>
        </p:txBody>
      </p:sp>
    </p:spTree>
    <p:extLst>
      <p:ext uri="{BB962C8B-B14F-4D97-AF65-F5344CB8AC3E}">
        <p14:creationId xmlns:p14="http://schemas.microsoft.com/office/powerpoint/2010/main" val="21296165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19E1BD3-98B3-4515-9AF9-2C83A19B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Activity 3: Interpret a measured Bode point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9D9F45EA-B8D1-4875-8034-69C86E14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28D424C-0312-4784-8B68-D1AC9A36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Given">
            <a:extLst xmlns:a="http://schemas.openxmlformats.org/drawingml/2006/main">
              <a:ext uri="{FF2B5EF4-FFF2-40B4-BE49-F238E27FC236}">
                <a16:creationId xmlns:a16="http://schemas.microsoft.com/office/drawing/2014/main" id="{B5083813-F6E0-4FE8-8ED2-FCF2DD10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14300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At 5 rad/s, the Bode plot shows +6 dB and −30°.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7C50787B-E138-4522-A903-8A55B345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Input: x(t) = 3 cos(5t + 10°)</a:t>
            </a:r>
          </a:p>
        </p:txBody>
      </p:sp>
      <p:sp>
        <p:nvSpPr>
          <p:cNvPr id="6" name="Option 1">
            <a:extLst xmlns:a="http://schemas.openxmlformats.org/drawingml/2006/main">
              <a:ext uri="{FF2B5EF4-FFF2-40B4-BE49-F238E27FC236}">
                <a16:creationId xmlns:a16="http://schemas.microsoft.com/office/drawing/2014/main" id="{DAEB1934-A568-46E0-9D2D-8A89998B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9087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A. 6 cos(5t − 20°)</a:t>
            </a:r>
          </a:p>
        </p:txBody>
      </p:sp>
      <p:sp>
        <p:nvSpPr>
          <p:cNvPr id="7" name="Option 2">
            <a:extLst xmlns:a="http://schemas.openxmlformats.org/drawingml/2006/main">
              <a:ext uri="{FF2B5EF4-FFF2-40B4-BE49-F238E27FC236}">
                <a16:creationId xmlns:a16="http://schemas.microsoft.com/office/drawing/2014/main" id="{87CE2115-DBE5-4FD2-8E6B-A40D5243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4332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B. 3 cos(5t − 30°)</a:t>
            </a:r>
          </a:p>
        </p:txBody>
      </p:sp>
      <p:sp>
        <p:nvSpPr>
          <p:cNvPr id="8" name="Option 3">
            <a:extLst xmlns:a="http://schemas.openxmlformats.org/drawingml/2006/main">
              <a:ext uri="{FF2B5EF4-FFF2-40B4-BE49-F238E27FC236}">
                <a16:creationId xmlns:a16="http://schemas.microsoft.com/office/drawing/2014/main" id="{B1664644-6209-427D-A7C6-F6AC32E3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9577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C. 6 cos(5t − 40°)</a:t>
            </a:r>
          </a:p>
        </p:txBody>
      </p:sp>
      <p:sp>
        <p:nvSpPr>
          <p:cNvPr id="9" name="Option 4">
            <a:extLst xmlns:a="http://schemas.openxmlformats.org/drawingml/2006/main">
              <a:ext uri="{FF2B5EF4-FFF2-40B4-BE49-F238E27FC236}">
                <a16:creationId xmlns:a16="http://schemas.microsoft.com/office/drawing/2014/main" id="{3286F4B3-4EC0-471E-B421-6891F7C3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4822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D. 9 cos(5t + 40°)</a:t>
            </a:r>
          </a:p>
        </p:txBody>
      </p:sp>
      <p:sp>
        <p:nvSpPr>
          <p:cNvPr id="10" name="Key message">
            <a:extLst xmlns:a="http://schemas.openxmlformats.org/drawingml/2006/main">
              <a:ext uri="{FF2B5EF4-FFF2-40B4-BE49-F238E27FC236}">
                <a16:creationId xmlns:a16="http://schemas.microsoft.com/office/drawing/2014/main" id="{EA13D3DB-A643-473B-89CB-0535A845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+6 dB is approximately a factor of two. Add the input phase and system phase.</a:t>
            </a:r>
          </a:p>
        </p:txBody>
      </p:sp>
    </p:spTree>
    <p:extLst>
      <p:ext uri="{BB962C8B-B14F-4D97-AF65-F5344CB8AC3E}">
        <p14:creationId xmlns:p14="http://schemas.microsoft.com/office/powerpoint/2010/main" val="5655238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37AAEB0A-6C7A-4E3B-8758-A78097CB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Complex poles connect ringing and resonance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F00EA49E-ABF1-4A9D-975E-AD07954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5DDD99E-CBE2-4234-95BF-6D4D8E55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Model">
            <a:extLst xmlns:a="http://schemas.openxmlformats.org/drawingml/2006/main">
              <a:ext uri="{FF2B5EF4-FFF2-40B4-BE49-F238E27FC236}">
                <a16:creationId xmlns:a16="http://schemas.microsoft.com/office/drawing/2014/main" id="{4AB2E1DB-853E-4703-8994-B9A46E8D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H(s) = ωₙ²/(s² + 2ζωₙs + ωₙ²)</a:t>
            </a:r>
          </a:p>
        </p:txBody>
      </p:sp>
      <p:sp>
        <p:nvSpPr>
          <p:cNvPr id="5" name="Poles">
            <a:extLst xmlns:a="http://schemas.openxmlformats.org/drawingml/2006/main">
              <a:ext uri="{FF2B5EF4-FFF2-40B4-BE49-F238E27FC236}">
                <a16:creationId xmlns:a16="http://schemas.microsoft.com/office/drawing/2014/main" id="{F7AFA8BC-42AF-4E6A-B0F7-C7B7DF9E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Poles: −ζωₙ ± jωₙ√(1 − ζ²)</a:t>
            </a:r>
          </a:p>
        </p:txBody>
      </p:sp>
      <p:sp>
        <p:nvSpPr>
          <p:cNvPr id="6" name="Meaning">
            <a:extLst xmlns:a="http://schemas.openxmlformats.org/drawingml/2006/main">
              <a:ext uri="{FF2B5EF4-FFF2-40B4-BE49-F238E27FC236}">
                <a16:creationId xmlns:a16="http://schemas.microsoft.com/office/drawing/2014/main" id="{BC856C81-0FFA-4360-A954-CBAB4839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572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Smaller ζ moves the poles closer to the imaginary axis. The natural response rings longer. The frequency response develops a larger peak.</a:t>
            </a:r>
          </a:p>
        </p:txBody>
      </p:sp>
      <p:sp>
        <p:nvSpPr>
          <p:cNvPr id="7" name="Example">
            <a:extLst xmlns:a="http://schemas.openxmlformats.org/drawingml/2006/main">
              <a:ext uri="{FF2B5EF4-FFF2-40B4-BE49-F238E27FC236}">
                <a16:creationId xmlns:a16="http://schemas.microsoft.com/office/drawing/2014/main" id="{A0C1A8DA-1F02-456F-9F3D-0D8DF766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Example: ωₙ = 10 rad/s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E63935A2-39A4-47A9-933B-7D879AC54C07}"/>
              </a:ext>
            </a:extLst>
          </p:cNvPr>
          <p:cNvGraphicFramePr/>
          <p:nvPr/>
        </p:nvGraphicFramePr>
        <p:xfrm>
          <a:off xmlns:a="http://schemas.openxmlformats.org/drawingml/2006/main" x="5381625" y="1095375"/>
          <a:ext xmlns:a="http://schemas.openxmlformats.org/drawingml/2006/main" cx="6000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3f0c9258eb4df5"/>
          </a:graphicData>
        </a:graphic>
      </p:graphicFrame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B7ECBDAA-978F-48DC-BCA8-DA19B5B6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same pole locations explain transient ringing and frequency-domain peaking.</a:t>
            </a:r>
          </a:p>
        </p:txBody>
      </p:sp>
    </p:spTree>
    <p:extLst>
      <p:ext uri="{BB962C8B-B14F-4D97-AF65-F5344CB8AC3E}">
        <p14:creationId xmlns:p14="http://schemas.microsoft.com/office/powerpoint/2010/main" val="13622566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87F62AD-794D-4525-AF78-7E480E3D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Bode-plot skills to retain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52EFB987-2633-40C9-856D-0F9B4862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3A2F142-FD75-4AF3-9550-68A2DE20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Skills">
            <a:extLst xmlns:a="http://schemas.openxmlformats.org/drawingml/2006/main">
              <a:ext uri="{FF2B5EF4-FFF2-40B4-BE49-F238E27FC236}">
                <a16:creationId xmlns:a16="http://schemas.microsoft.com/office/drawing/2014/main" id="{35E14EEE-768F-49F2-A861-6BBB213A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95375"/>
            <a:ext cx="10382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Read magnitude and phase at the input frequency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Convert decibels to an amplitude ratio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Find corner frequencies from normalized poles and zeros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Update the magnitude slope after each corner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Use a hand sketch to predict the main structure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Use software to verify exact curves and resonance</a:t>
            </a:r>
          </a:p>
        </p:txBody>
      </p:sp>
      <p:sp>
        <p:nvSpPr>
          <p:cNvPr id="5" name="Key message">
            <a:extLst xmlns:a="http://schemas.openxmlformats.org/drawingml/2006/main">
              <a:ext uri="{FF2B5EF4-FFF2-40B4-BE49-F238E27FC236}">
                <a16:creationId xmlns:a16="http://schemas.microsoft.com/office/drawing/2014/main" id="{BFA030D7-3768-429C-AE1A-3C9B5D86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Inspect the poles and zeros first. Detailed plotting comes after the prediction.</a:t>
            </a:r>
          </a:p>
        </p:txBody>
      </p:sp>
    </p:spTree>
    <p:extLst>
      <p:ext uri="{BB962C8B-B14F-4D97-AF65-F5344CB8AC3E}">
        <p14:creationId xmlns:p14="http://schemas.microsoft.com/office/powerpoint/2010/main" val="71429445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2026-10-29T02:11:50.3590000Z</dcterms:created>
  <dcterms:modified xsi:type="dcterms:W3CDTF">2026-10-29T02:11:50.3590000Z</dcterms:modified>
</coreProperties>
</file>