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dec9aabd2d4abf" /><Relationship Type="http://schemas.openxmlformats.org/officeDocument/2006/relationships/extended-properties" Target="/docProps/app.xml" Id="Rc1bb49d3a39b4ef5" /><Relationship Type="http://schemas.openxmlformats.org/officeDocument/2006/relationships/officeDocument" Target="/ppt/presentation.xml" Id="R22e978d677c44e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0decea5b94fbd"/>
  </p:sldMasterIdLst>
  <p:notesMasterIdLst>
    <p:notesMasterId xmlns:r="http://schemas.openxmlformats.org/officeDocument/2006/relationships" r:id="Rc59180ea756e4054"/>
  </p:notesMasterIdLst>
  <p:sldIdLst>
    <p:sldId xmlns:r="http://schemas.openxmlformats.org/officeDocument/2006/relationships" id="256" r:id="R6157f3b23c774a47"/>
    <p:sldId xmlns:r="http://schemas.openxmlformats.org/officeDocument/2006/relationships" id="257" r:id="Rb589e70dea47462b"/>
    <p:sldId xmlns:r="http://schemas.openxmlformats.org/officeDocument/2006/relationships" id="258" r:id="Rd9036f47c6bf4a83"/>
    <p:sldId xmlns:r="http://schemas.openxmlformats.org/officeDocument/2006/relationships" id="259" r:id="R80e37df8612848d7"/>
    <p:sldId xmlns:r="http://schemas.openxmlformats.org/officeDocument/2006/relationships" id="260" r:id="R6240b71c88bf4e57"/>
    <p:sldId xmlns:r="http://schemas.openxmlformats.org/officeDocument/2006/relationships" id="261" r:id="R8a81f577543d4b4c"/>
    <p:sldId xmlns:r="http://schemas.openxmlformats.org/officeDocument/2006/relationships" id="262" r:id="R1051457dd36b4de2"/>
    <p:sldId xmlns:r="http://schemas.openxmlformats.org/officeDocument/2006/relationships" id="263" r:id="R68e96b6f15674a02"/>
    <p:sldId xmlns:r="http://schemas.openxmlformats.org/officeDocument/2006/relationships" id="264" r:id="R33f0642e7db54d08"/>
    <p:sldId xmlns:r="http://schemas.openxmlformats.org/officeDocument/2006/relationships" id="265" r:id="Rbf4854e5ee364478"/>
    <p:sldId xmlns:r="http://schemas.openxmlformats.org/officeDocument/2006/relationships" id="266" r:id="R682725f9db5a4268"/>
    <p:sldId xmlns:r="http://schemas.openxmlformats.org/officeDocument/2006/relationships" id="267" r:id="R79579c2f1b144a39"/>
    <p:sldId xmlns:r="http://schemas.openxmlformats.org/officeDocument/2006/relationships" id="268" r:id="R682c64adaddb4f5b"/>
    <p:sldId xmlns:r="http://schemas.openxmlformats.org/officeDocument/2006/relationships" id="269" r:id="R1748bd239da841e3"/>
    <p:sldId xmlns:r="http://schemas.openxmlformats.org/officeDocument/2006/relationships" id="270" r:id="Ra61922b712b4489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c9f6d179e74ff6" /><Relationship Type="http://schemas.openxmlformats.org/officeDocument/2006/relationships/slideMaster" Target="/ppt/slideMasters/slideMaster1.xml" Id="Rc580decea5b94fbd" /><Relationship Type="http://schemas.openxmlformats.org/officeDocument/2006/relationships/notesMaster" Target="/ppt/notesMasters/notesMaster1.xml" Id="Rc59180ea756e4054" /><Relationship Type="http://schemas.openxmlformats.org/officeDocument/2006/relationships/presProps" Target="/ppt/presProps.xml" Id="R02cabca0277a4f1f" /><Relationship Type="http://schemas.openxmlformats.org/officeDocument/2006/relationships/viewProps" Target="/ppt/viewProps.xml" Id="Rd9bff55cbd944e66" /><Relationship Type="http://schemas.openxmlformats.org/officeDocument/2006/relationships/tableStyles" Target="/ppt/tableStyles.xml" Id="R12a9359234cd4868" /><Relationship Type="http://schemas.openxmlformats.org/officeDocument/2006/relationships/slide" Target="/ppt/slides/slide1.xml" Id="R6157f3b23c774a47" /><Relationship Type="http://schemas.openxmlformats.org/officeDocument/2006/relationships/slide" Target="/ppt/slides/slide2.xml" Id="Rb589e70dea47462b" /><Relationship Type="http://schemas.openxmlformats.org/officeDocument/2006/relationships/slide" Target="/ppt/slides/slide3.xml" Id="Rd9036f47c6bf4a83" /><Relationship Type="http://schemas.openxmlformats.org/officeDocument/2006/relationships/slide" Target="/ppt/slides/slide4.xml" Id="R80e37df8612848d7" /><Relationship Type="http://schemas.openxmlformats.org/officeDocument/2006/relationships/slide" Target="/ppt/slides/slide5.xml" Id="R6240b71c88bf4e57" /><Relationship Type="http://schemas.openxmlformats.org/officeDocument/2006/relationships/slide" Target="/ppt/slides/slide6.xml" Id="R8a81f577543d4b4c" /><Relationship Type="http://schemas.openxmlformats.org/officeDocument/2006/relationships/slide" Target="/ppt/slides/slide7.xml" Id="R1051457dd36b4de2" /><Relationship Type="http://schemas.openxmlformats.org/officeDocument/2006/relationships/slide" Target="/ppt/slides/slide8.xml" Id="R68e96b6f15674a02" /><Relationship Type="http://schemas.openxmlformats.org/officeDocument/2006/relationships/slide" Target="/ppt/slides/slide9.xml" Id="R33f0642e7db54d08" /><Relationship Type="http://schemas.openxmlformats.org/officeDocument/2006/relationships/slide" Target="/ppt/slides/slide10.xml" Id="Rbf4854e5ee364478" /><Relationship Type="http://schemas.openxmlformats.org/officeDocument/2006/relationships/slide" Target="/ppt/slides/slide11.xml" Id="R682725f9db5a4268" /><Relationship Type="http://schemas.openxmlformats.org/officeDocument/2006/relationships/slide" Target="/ppt/slides/slide12.xml" Id="R79579c2f1b144a39" /><Relationship Type="http://schemas.openxmlformats.org/officeDocument/2006/relationships/slide" Target="/ppt/slides/slide13.xml" Id="R682c64adaddb4f5b" /><Relationship Type="http://schemas.openxmlformats.org/officeDocument/2006/relationships/slide" Target="/ppt/slides/slide14.xml" Id="R1748bd239da841e3" /><Relationship Type="http://schemas.openxmlformats.org/officeDocument/2006/relationships/slide" Target="/ppt/slides/slide15.xml" Id="Ra61922b712b448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5910a2e50f46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ba3c812df74bad" /><Relationship Type="http://schemas.openxmlformats.org/officeDocument/2006/relationships/notesMaster" Target="/ppt/notesMasters/notesMaster1.xml" Id="R394824d2e79242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c950f85cd04ad5" /><Relationship Type="http://schemas.openxmlformats.org/officeDocument/2006/relationships/notesMaster" Target="/ppt/notesMasters/notesMaster1.xml" Id="Rf9225b1fad6c42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3a3ca0ed564824" /><Relationship Type="http://schemas.openxmlformats.org/officeDocument/2006/relationships/notesMaster" Target="/ppt/notesMasters/notesMaster1.xml" Id="Re420d2bed7174d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d4d9c356ea4c53" /><Relationship Type="http://schemas.openxmlformats.org/officeDocument/2006/relationships/notesMaster" Target="/ppt/notesMasters/notesMaster1.xml" Id="Rfdbcfd047a6547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9cffe4020546b5" /><Relationship Type="http://schemas.openxmlformats.org/officeDocument/2006/relationships/notesMaster" Target="/ppt/notesMasters/notesMaster1.xml" Id="R9fdb810cee604b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e236067a3f4c35" /><Relationship Type="http://schemas.openxmlformats.org/officeDocument/2006/relationships/notesMaster" Target="/ppt/notesMasters/notesMaster1.xml" Id="Rec3419c62f5f4e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4b984b6c874c65" /><Relationship Type="http://schemas.openxmlformats.org/officeDocument/2006/relationships/notesMaster" Target="/ppt/notesMasters/notesMaster1.xml" Id="Rcfbd63b1c9fb44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ac37a2332c4874" /><Relationship Type="http://schemas.openxmlformats.org/officeDocument/2006/relationships/notesMaster" Target="/ppt/notesMasters/notesMaster1.xml" Id="R8f60f624e40541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8ede5759154001" /><Relationship Type="http://schemas.openxmlformats.org/officeDocument/2006/relationships/notesMaster" Target="/ppt/notesMasters/notesMaster1.xml" Id="R1e432a73bf3a4d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82506d8f254f89" /><Relationship Type="http://schemas.openxmlformats.org/officeDocument/2006/relationships/notesMaster" Target="/ppt/notesMasters/notesMaster1.xml" Id="R9507b1ad121246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d4691be0af480a" /><Relationship Type="http://schemas.openxmlformats.org/officeDocument/2006/relationships/notesMaster" Target="/ppt/notesMasters/notesMaster1.xml" Id="R0fc6a873c26741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d9cdaa24ca4245" /><Relationship Type="http://schemas.openxmlformats.org/officeDocument/2006/relationships/notesMaster" Target="/ppt/notesMasters/notesMaster1.xml" Id="Rb766663211504c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2d970641554c58" /><Relationship Type="http://schemas.openxmlformats.org/officeDocument/2006/relationships/notesMaster" Target="/ppt/notesMasters/notesMaster1.xml" Id="R2bd8b60b5baf4a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b711b5752949d5" /><Relationship Type="http://schemas.openxmlformats.org/officeDocument/2006/relationships/notesMaster" Target="/ppt/notesMasters/notesMaster1.xml" Id="R553ee42adb9542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09f9d3e54b41eb" /><Relationship Type="http://schemas.openxmlformats.org/officeDocument/2006/relationships/notesMaster" Target="/ppt/notesMasters/notesMaster1.xml" Id="Ra078af04fde340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section as an application of transfer functions and pole analysis. The goal is to understand what closing a loop changes, not to teach a complete control-design course.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for examples such as cruise control or temperature control. Then move immediately to the question that connects with prior material: what happens to the poles when the loop closes?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signal roles. G(s) is the forward path. H(s) is the feedback path. This addresses the common confusion between a controller gain in G(s) and a feedback-path gain.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 the expression line by line rather than presenting it as a memorized formula. The denominator is the bridge to the next slide on closed-loop poles.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the pole-pattern language students already know. The only new step is forming the closed-loop denominator.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classify each pole pattern before discussing step responses. This makes the later plot a confirmation of their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 answer: C. T(s)=4/(s^2+2s+4), whose poles are -1 plus or minus j square root of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curves after students predict them from slide 6. Point out that larger gain is not equivalent to uniformly better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final-value theorem as a response check. Do not let the DC gain calculation replace the closed-loop stability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Specify that D(s) enters at the plant output. The disturbance transfer changes if the disturbance enters at another location.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qualitative. The identity S+T=1 shows why feedback design involves tradeoffs rather than making every unwanted effect small at once.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each tradeoff to the equations already shown. Avoid presenting gain as good or bad by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 answer: C. An output disturbance passes through the sensitivity function 1/(1+G) for unity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set expectations. Students should understand the system consequences of feedback without being asked to design a controller from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retrieval. Ask students to explain why the poles of G(s) alone cannot predict the closed-loop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487a15d9140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ee160c7d147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8d9b4767248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dae2068ac4c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b17d7d7e345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d27dfd27d41a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36a236c2146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03db1b6114de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640e55cf2421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fa41206e04b4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4b76c66ad41f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620F6B-1274-A34D-9F32-B9DE84A7BC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432674E-A5D0-3449-8FD8-31000E8913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6718ED-723A-F04C-926B-1E9053C179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08F821-7CD3-4156-906B-9AFC06E1669A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991C09-5343-E146-A9DD-C9878BD6A4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CCBB35-B03B-4C4B-9335-98F0C73E76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4537DD3-2515-49B3-8711-D1455490DEF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93D57D-0F41-4049-B143-4159C5F6A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734B62-AFEE-DE4D-A026-64D8F52339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9C1FC3-89F7-5646-A411-6D0ADC3974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77EDA4-A392-4462-BB27-989F88565297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270C84-5ED5-554C-834C-9C39824D57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5BE47B-E814-1241-B8E7-9EFD52D15A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3FC49-E60F-4606-9A69-83B0AD922FA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B97CD9-00AF-2945-ADCC-9C60E411A6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250729-FDB3-0543-AB38-0F0B8EF98E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8599D7-603E-3845-94B6-33C1001B6F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A14F70-D0B6-41E4-AB56-33FC990E25AE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907597-0CED-9847-98E0-C9C1A632B9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CF8C1D-7866-9D48-9336-BBA0A3EF32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4DAA1C-3C30-43D4-9A31-8A6B5D72968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BEE48E-E039-2643-87FD-DB77E8DDD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875913-4BC2-AC4D-8F42-00BC58FCFC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501E132-BD3A-6446-B06F-D6CA908F44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B3C8A9-B7DD-9C46-B1B7-3A2555AFFA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58C204A-18B2-4C34-BBF9-DE574CD4D900}" type="datetime1">
              <a:t>10/19/2026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F5551C8-9857-9941-BED2-082A41AC86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B1E23BD-4EA5-3446-815D-E5B008CD78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066D7E-F21F-40B0-BDD9-A7E25A5EC645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AADE11-23F1-BD42-BE4C-B162B75F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FEBB14-FBA4-334E-A5AC-527AE0DA12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823336E-4C4A-0D47-8BEA-76DB715D45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F92B19D-4920-7F42-84C3-5353A082BC0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ACB2272-EA3B-D740-9152-1217302336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BA91C35-8179-174C-95D7-2CC5E714D0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DFEDE4-CEA2-4EDC-AA9C-14B74D7D357C}" type="datetime1">
              <a:t>10/19/2026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2828D49-08B0-A847-8F42-F0BB8BDCBB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38CCB48-5CFD-194A-B573-FE947304E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9D1FAA4-5414-4982-A7EC-1B608B458D1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7A4CD5-0AF8-0E46-B61B-F633F4252E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305FAA0-ED5F-7246-B61C-61652059CF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CDD242-85DB-405F-A9DF-AE9618344270}" type="datetime1">
              <a:t>10/19/2026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5EE7736-599A-8C45-9E12-0F0A8FB94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C01C9F4-0088-9C45-95A4-95B9E4F186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09A7A8-E26E-41EF-8C04-E2A9235D58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D1756D0-457C-434A-80A8-7F13A2FC6A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D8F35-9D86-4AEB-8EC8-2AE02CE9E218}" type="datetime1">
              <a:t>10/19/2026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2822977-4102-AA4A-B42B-95ED58FEAB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3871B5-B8B9-A04B-92DD-09D78DB4FB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9A3BB06-BC23-4967-B343-2235CAD6F61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CE950D-D656-B64A-B75F-31F27F717C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441563-DD09-8E40-86A6-3B82D448D6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68C2BB3-4745-714B-B926-0D39F33495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A25227B-EB26-E641-BB49-27A51F0A27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9496E3-388E-44A2-9023-8921B359AA2B}" type="datetime1">
              <a:t>10/19/2026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A9DC8C-785E-FA4F-AFFF-054FBB51FA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7272146-319B-5D4B-8ADF-50947E623C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5E2FC5-4674-4EF9-AC2A-7A5DF39242B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DC83D0-5BAB-1F49-A04F-EEFCF78A8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5A91B77-AB57-D543-9A44-6FED0596C76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CCDFB13-A5AC-8C47-93BB-578113D403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90A2AE2-E193-7B4E-8B83-F124B68086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4A9E84-6555-4655-99C4-6022AEE674F7}" type="datetime1">
              <a:t>10/19/2026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B9DCCA0-9CA6-9F44-B365-1034CDEDB8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0B7EC76-EA5F-F640-AEF2-77033E371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DD9128-52DF-4A72-9006-FDD7EFBC593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2D4C02-18ED-7C45-A221-A1B35B1E2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5BBCB9E-481F-9446-BB28-AEB09FF648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B8DB48-DF73-5B45-BB0E-7216608330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EB55C-5ED7-4F4D-920A-D3517CC2572E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8BDD0A-0052-EA48-833E-3368E270CC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195EC7-61FF-784E-9DCB-DF9C86113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417AD0C-18EA-4770-86F4-28ABF161CD4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C06DECD-4069-4842-A3C9-D52007D1EE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24F81D-8B03-5F4A-8BA5-069D46ABE2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94D910-01D8-2640-AD19-C31994B521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D45FC4-C535-4004-B58C-543D637B862C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BE1B17-1221-584A-B84C-2F8E699E31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C26D80-9FC6-D449-8F69-7F59B2651C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05C971-E002-4F2C-B705-5B12D4E96FE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6ddc7f51af4f72" /><Relationship Type="http://schemas.openxmlformats.org/officeDocument/2006/relationships/slideLayout" Target="/ppt/slideLayouts/slideLayout1.xml" Id="R3f004e97e74a4805" /><Relationship Type="http://schemas.openxmlformats.org/officeDocument/2006/relationships/slideLayout" Target="/ppt/slideLayouts/slideLayout2.xml" Id="Rd2e10358bccb4852" /><Relationship Type="http://schemas.openxmlformats.org/officeDocument/2006/relationships/slideLayout" Target="/ppt/slideLayouts/slideLayout3.xml" Id="Rd1d9b2ae47fa4503" /><Relationship Type="http://schemas.openxmlformats.org/officeDocument/2006/relationships/slideLayout" Target="/ppt/slideLayouts/slideLayout4.xml" Id="Rd676db7f77514970" /><Relationship Type="http://schemas.openxmlformats.org/officeDocument/2006/relationships/slideLayout" Target="/ppt/slideLayouts/slideLayout5.xml" Id="R780a2a65c914407f" /><Relationship Type="http://schemas.openxmlformats.org/officeDocument/2006/relationships/slideLayout" Target="/ppt/slideLayouts/slideLayout6.xml" Id="Rea2595457aca4a73" /><Relationship Type="http://schemas.openxmlformats.org/officeDocument/2006/relationships/slideLayout" Target="/ppt/slideLayouts/slideLayout7.xml" Id="Rf4a0c0177a624de6" /><Relationship Type="http://schemas.openxmlformats.org/officeDocument/2006/relationships/slideLayout" Target="/ppt/slideLayouts/slideLayout8.xml" Id="R65bc517efaf94209" /><Relationship Type="http://schemas.openxmlformats.org/officeDocument/2006/relationships/slideLayout" Target="/ppt/slideLayouts/slideLayout9.xml" Id="R2f80d37534e34380" /><Relationship Type="http://schemas.openxmlformats.org/officeDocument/2006/relationships/slideLayout" Target="/ppt/slideLayouts/slideLayout10.xml" Id="R76ade13fa3c14b41" /><Relationship Type="http://schemas.openxmlformats.org/officeDocument/2006/relationships/slideLayout" Target="/ppt/slideLayouts/slideLayout11.xml" Id="R530f0b7dd6f04c8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A905A38-AF08-6D4E-AFE8-E4A6F0470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35CE49-9C41-3844-B87C-32768B90B9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FD0B0B-EBF8-7047-9EE4-0518D69DF11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3414950-E075-4B5B-976F-60AC4AD81325}" type="datetime1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FDA49B-BA3A-9642-AC06-92F9AA91F50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B1799B-DEF0-F843-938C-6CC9F39E37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C2A7195-506A-40E6-AC09-BF3E15EE274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004e97e74a4805"/>
    <p:sldLayoutId xmlns:r="http://schemas.openxmlformats.org/officeDocument/2006/relationships" id="2147483650" r:id="Rd2e10358bccb4852"/>
    <p:sldLayoutId xmlns:r="http://schemas.openxmlformats.org/officeDocument/2006/relationships" id="2147483651" r:id="Rd1d9b2ae47fa4503"/>
    <p:sldLayoutId xmlns:r="http://schemas.openxmlformats.org/officeDocument/2006/relationships" id="2147483652" r:id="Rd676db7f77514970"/>
    <p:sldLayoutId xmlns:r="http://schemas.openxmlformats.org/officeDocument/2006/relationships" id="2147483653" r:id="R780a2a65c914407f"/>
    <p:sldLayoutId xmlns:r="http://schemas.openxmlformats.org/officeDocument/2006/relationships" id="2147483654" r:id="Rea2595457aca4a73"/>
    <p:sldLayoutId xmlns:r="http://schemas.openxmlformats.org/officeDocument/2006/relationships" id="2147483655" r:id="Rf4a0c0177a624de6"/>
    <p:sldLayoutId xmlns:r="http://schemas.openxmlformats.org/officeDocument/2006/relationships" id="2147483656" r:id="R65bc517efaf94209"/>
    <p:sldLayoutId xmlns:r="http://schemas.openxmlformats.org/officeDocument/2006/relationships" id="2147483657" r:id="R2f80d37534e34380"/>
    <p:sldLayoutId xmlns:r="http://schemas.openxmlformats.org/officeDocument/2006/relationships" id="2147483658" r:id="R76ade13fa3c14b41"/>
    <p:sldLayoutId xmlns:r="http://schemas.openxmlformats.org/officeDocument/2006/relationships" id="2147483659" r:id="R530f0b7dd6f04c8b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423a4e9854b6d" /><Relationship Type="http://schemas.openxmlformats.org/officeDocument/2006/relationships/notesSlide" Target="/ppt/notesSlides/notesSlide1.xml" Id="R8cb9d2eb5a2347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6a8d676592481f" /><Relationship Type="http://schemas.openxmlformats.org/officeDocument/2006/relationships/notesSlide" Target="/ppt/notesSlides/notesSlide2.xml" Id="R4f58cca960f64c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0905b93cef48f2" /><Relationship Type="http://schemas.openxmlformats.org/officeDocument/2006/relationships/notesSlide" Target="/ppt/notesSlides/notesSlide3.xml" Id="R55a67b6ce21c47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90d99c338046fd" /><Relationship Type="http://schemas.openxmlformats.org/officeDocument/2006/relationships/notesSlide" Target="/ppt/notesSlides/notesSlide4.xml" Id="Rae4ad161ffef44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6b8a7929564e42" /><Relationship Type="http://schemas.openxmlformats.org/officeDocument/2006/relationships/notesSlide" Target="/ppt/notesSlides/notesSlide5.xml" Id="R300804af987f4e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7213e038884061" /><Relationship Type="http://schemas.openxmlformats.org/officeDocument/2006/relationships/notesSlide" Target="/ppt/notesSlides/notesSlide6.xml" Id="Rd905bbb99aa949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2467e88b8e4bb0" /><Relationship Type="http://schemas.openxmlformats.org/officeDocument/2006/relationships/notesSlide" Target="/ppt/notesSlides/notesSlide7.xml" Id="R95c7eea56be54a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97762d26514c1d" /><Relationship Type="http://schemas.openxmlformats.org/officeDocument/2006/relationships/chart" Target="/ppt/slides/charts/chart1.xml" Id="R7027ed5497fa4798" /><Relationship Type="http://schemas.openxmlformats.org/officeDocument/2006/relationships/notesSlide" Target="/ppt/notesSlides/notesSlide8.xml" Id="R65ab03afa52041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2da5e26e1248b7" /><Relationship Type="http://schemas.openxmlformats.org/officeDocument/2006/relationships/notesSlide" Target="/ppt/notesSlides/notesSlide9.xml" Id="R4f40b7b7250446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d3c539fb0a489a" /><Relationship Type="http://schemas.openxmlformats.org/officeDocument/2006/relationships/notesSlide" Target="/ppt/notesSlides/notesSlide10.xml" Id="R5724a25be82348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2c027c44e540a2" /><Relationship Type="http://schemas.openxmlformats.org/officeDocument/2006/relationships/notesSlide" Target="/ppt/notesSlides/notesSlide11.xml" Id="Raa5b0b7a53024a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16af962d294edc" /><Relationship Type="http://schemas.openxmlformats.org/officeDocument/2006/relationships/notesSlide" Target="/ppt/notesSlides/notesSlide12.xml" Id="R05b07b6ab2cd42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d1c5359c5e4c44" /><Relationship Type="http://schemas.openxmlformats.org/officeDocument/2006/relationships/notesSlide" Target="/ppt/notesSlides/notesSlide13.xml" Id="R1e10b0dd4b6f4b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562fc14f994a5f" /><Relationship Type="http://schemas.openxmlformats.org/officeDocument/2006/relationships/notesSlide" Target="/ppt/notesSlides/notesSlide14.xml" Id="Re44a07b0ac404e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c8e292e80140f5" /><Relationship Type="http://schemas.openxmlformats.org/officeDocument/2006/relationships/notesSlide" Target="/ppt/notesSlides/notesSlide15.xml" Id="Rb0c34d0ecd3a46d1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Unit-step response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365D"/>
              </a:solidFill>
              <a:latin typeface="Segoe UI"/>
              <a:ea typeface="Segoe UI"/>
              <a:cs typeface="Segoe U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K = 0.5</c:v>
          </c:tx>
          <c:spPr>
            <a:ln xmlns:a="http://schemas.openxmlformats.org/drawingml/2006/main" w="23813">
              <a:solidFill>
                <a:srgbClr val="17365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0.00</c:v>
              </c:pt>
              <c:pt idx="1">
                <c:v>0.15</c:v>
              </c:pt>
              <c:pt idx="2">
                <c:v>0.30</c:v>
              </c:pt>
              <c:pt idx="3">
                <c:v>0.45</c:v>
              </c:pt>
              <c:pt idx="4">
                <c:v>0.60</c:v>
              </c:pt>
              <c:pt idx="5">
                <c:v>0.75</c:v>
              </c:pt>
              <c:pt idx="6">
                <c:v>0.90</c:v>
              </c:pt>
              <c:pt idx="7">
                <c:v>1.05</c:v>
              </c:pt>
              <c:pt idx="8">
                <c:v>1.20</c:v>
              </c:pt>
              <c:pt idx="9">
                <c:v>1.35</c:v>
              </c:pt>
              <c:pt idx="10">
                <c:v>1.50</c:v>
              </c:pt>
              <c:pt idx="11">
                <c:v>1.65</c:v>
              </c:pt>
              <c:pt idx="12">
                <c:v>1.80</c:v>
              </c:pt>
              <c:pt idx="13">
                <c:v>1.95</c:v>
              </c:pt>
              <c:pt idx="14">
                <c:v>2.10</c:v>
              </c:pt>
              <c:pt idx="15">
                <c:v>2.25</c:v>
              </c:pt>
              <c:pt idx="16">
                <c:v>2.40</c:v>
              </c:pt>
              <c:pt idx="17">
                <c:v>2.55</c:v>
              </c:pt>
              <c:pt idx="18">
                <c:v>2.70</c:v>
              </c:pt>
              <c:pt idx="19">
                <c:v>2.85</c:v>
              </c:pt>
              <c:pt idx="20">
                <c:v>3.00</c:v>
              </c:pt>
              <c:pt idx="21">
                <c:v>3.15</c:v>
              </c:pt>
              <c:pt idx="22">
                <c:v>3.30</c:v>
              </c:pt>
              <c:pt idx="23">
                <c:v>3.45</c:v>
              </c:pt>
              <c:pt idx="24">
                <c:v>3.60</c:v>
              </c:pt>
              <c:pt idx="25">
                <c:v>3.75</c:v>
              </c:pt>
              <c:pt idx="26">
                <c:v>3.90</c:v>
              </c:pt>
              <c:pt idx="27">
                <c:v>4.05</c:v>
              </c:pt>
              <c:pt idx="28">
                <c:v>4.20</c:v>
              </c:pt>
              <c:pt idx="29">
                <c:v>4.35</c:v>
              </c:pt>
              <c:pt idx="30">
                <c:v>4.50</c:v>
              </c:pt>
              <c:pt idx="31">
                <c:v>4.65</c:v>
              </c:pt>
              <c:pt idx="32">
                <c:v>4.80</c:v>
              </c:pt>
              <c:pt idx="33">
                <c:v>4.95</c:v>
              </c:pt>
              <c:pt idx="34">
                <c:v>5.10</c:v>
              </c:pt>
              <c:pt idx="35">
                <c:v>5.25</c:v>
              </c:pt>
              <c:pt idx="36">
                <c:v>5.40</c:v>
              </c:pt>
              <c:pt idx="37">
                <c:v>5.55</c:v>
              </c:pt>
              <c:pt idx="38">
                <c:v>5.70</c:v>
              </c:pt>
              <c:pt idx="39">
                <c:v>5.85</c:v>
              </c:pt>
              <c:pt idx="40">
                <c:v>6.00</c:v>
              </c:pt>
            </c:numLit>
          </c:cat>
          <c:val>
            <c:numLit>
              <c:formatCode>General</c:formatCode>
              <c:ptCount val="41"/>
              <c:pt idx="0">
                <c:v>-3.608224830031759E-16</c:v>
              </c:pt>
              <c:pt idx="1">
                <c:v>0.00509759383010705</c:v>
              </c:pt>
              <c:pt idx="2">
                <c:v>0.01853470736630547</c:v>
              </c:pt>
              <c:pt idx="3">
                <c:v>0.03801941169820951</c:v>
              </c:pt>
              <c:pt idx="4">
                <c:v>0.061795080679837036</c:v>
              </c:pt>
              <c:pt idx="5">
                <c:v>0.08851870743635021</c:v>
              </c:pt>
              <c:pt idx="6">
                <c:v>0.1171667426801854</c:v>
              </c:pt>
              <c:pt idx="7">
                <c:v>0.14696223601588804</c:v>
              </c:pt>
              <c:pt idx="8">
                <c:v>0.17731846636123144</c:v>
              </c:pt>
              <c:pt idx="9">
                <c:v>0.20779533516724635</c:v>
              </c:pt>
              <c:pt idx="10">
                <c:v>0.23806563798373606</c:v>
              </c:pt>
              <c:pt idx="11">
                <c:v>0.26788898159370483</c:v>
              </c:pt>
              <c:pt idx="12">
                <c:v>0.29709161839495507</c:v>
              </c:pt>
              <c:pt idx="13">
                <c:v>0.3255508601988342</c:v>
              </c:pt>
              <c:pt idx="14">
                <c:v>0.35318303589011923</c:v>
              </c:pt>
              <c:pt idx="15">
                <c:v>0.3799341913775976</c:v>
              </c:pt>
              <c:pt idx="16">
                <c:v>0.40577291138910726</c:v>
              </c:pt>
              <c:pt idx="17">
                <c:v>0.43068478286957557</c:v>
              </c:pt>
              <c:pt idx="18">
                <c:v>0.45466812827010455</c:v>
              </c:pt>
              <c:pt idx="19">
                <c:v>0.47773072102619213</c:v>
              </c:pt>
              <c:pt idx="20">
                <c:v>0.49988726055299687</c:v>
              </c:pt>
              <c:pt idx="21">
                <c:v>0.5211574344230223</c:v>
              </c:pt>
              <c:pt idx="22">
                <c:v>0.5415644343559232</c:v>
              </c:pt>
              <c:pt idx="23">
                <c:v>0.5611338228106669</c:v>
              </c:pt>
              <c:pt idx="24">
                <c:v>0.5798926703159519</c:v>
              </c:pt>
              <c:pt idx="25">
                <c:v>0.5978689017451694</c:v>
              </c:pt>
              <c:pt idx="26">
                <c:v>0.615090803729109</c:v>
              </c:pt>
              <c:pt idx="27">
                <c:v>0.63158665622557</c:v>
              </c:pt>
              <c:pt idx="28">
                <c:v>0.6473844596442134</c:v>
              </c:pt>
              <c:pt idx="29">
                <c:v>0.6625117354101538</c:v>
              </c:pt>
              <c:pt idx="30">
                <c:v>0.6769953828688816</c:v>
              </c:pt>
              <c:pt idx="31">
                <c:v>0.6908615793193524</c:v>
              </c:pt>
              <c:pt idx="32">
                <c:v>0.7041357129679118</c:v>
              </c:pt>
              <c:pt idx="33">
                <c:v>0.716842340921603</c:v>
              </c:pt>
              <c:pt idx="34">
                <c:v>0.7290051661390049</c:v>
              </c:pt>
              <c:pt idx="35">
                <c:v>0.7406470286489629</c:v>
              </c:pt>
              <c:pt idx="36">
                <c:v>0.7517899074245037</c:v>
              </c:pt>
              <c:pt idx="37">
                <c:v>0.7624549301321096</c:v>
              </c:pt>
              <c:pt idx="38">
                <c:v>0.7726623886205333</c:v>
              </c:pt>
              <c:pt idx="39">
                <c:v>0.7824317585111688</c:v>
              </c:pt>
              <c:pt idx="40">
                <c:v>0.7917817216367066</c:v>
              </c:pt>
            </c:numLit>
          </c:val>
        </c:ser>
        <c:ser>
          <c:idx val="1"/>
          <c:order val="1"/>
          <c:tx>
            <c:v>K = 1</c:v>
          </c:tx>
          <c:spPr>
            <a:ln xmlns:a="http://schemas.openxmlformats.org/drawingml/2006/main" w="23813">
              <a:solidFill>
                <a:srgbClr val="ED9E1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0.00</c:v>
              </c:pt>
              <c:pt idx="1">
                <c:v>0.15</c:v>
              </c:pt>
              <c:pt idx="2">
                <c:v>0.30</c:v>
              </c:pt>
              <c:pt idx="3">
                <c:v>0.45</c:v>
              </c:pt>
              <c:pt idx="4">
                <c:v>0.60</c:v>
              </c:pt>
              <c:pt idx="5">
                <c:v>0.75</c:v>
              </c:pt>
              <c:pt idx="6">
                <c:v>0.90</c:v>
              </c:pt>
              <c:pt idx="7">
                <c:v>1.05</c:v>
              </c:pt>
              <c:pt idx="8">
                <c:v>1.20</c:v>
              </c:pt>
              <c:pt idx="9">
                <c:v>1.35</c:v>
              </c:pt>
              <c:pt idx="10">
                <c:v>1.50</c:v>
              </c:pt>
              <c:pt idx="11">
                <c:v>1.65</c:v>
              </c:pt>
              <c:pt idx="12">
                <c:v>1.80</c:v>
              </c:pt>
              <c:pt idx="13">
                <c:v>1.95</c:v>
              </c:pt>
              <c:pt idx="14">
                <c:v>2.10</c:v>
              </c:pt>
              <c:pt idx="15">
                <c:v>2.25</c:v>
              </c:pt>
              <c:pt idx="16">
                <c:v>2.40</c:v>
              </c:pt>
              <c:pt idx="17">
                <c:v>2.55</c:v>
              </c:pt>
              <c:pt idx="18">
                <c:v>2.70</c:v>
              </c:pt>
              <c:pt idx="19">
                <c:v>2.85</c:v>
              </c:pt>
              <c:pt idx="20">
                <c:v>3.00</c:v>
              </c:pt>
              <c:pt idx="21">
                <c:v>3.15</c:v>
              </c:pt>
              <c:pt idx="22">
                <c:v>3.30</c:v>
              </c:pt>
              <c:pt idx="23">
                <c:v>3.45</c:v>
              </c:pt>
              <c:pt idx="24">
                <c:v>3.60</c:v>
              </c:pt>
              <c:pt idx="25">
                <c:v>3.75</c:v>
              </c:pt>
              <c:pt idx="26">
                <c:v>3.90</c:v>
              </c:pt>
              <c:pt idx="27">
                <c:v>4.05</c:v>
              </c:pt>
              <c:pt idx="28">
                <c:v>4.20</c:v>
              </c:pt>
              <c:pt idx="29">
                <c:v>4.35</c:v>
              </c:pt>
              <c:pt idx="30">
                <c:v>4.50</c:v>
              </c:pt>
              <c:pt idx="31">
                <c:v>4.65</c:v>
              </c:pt>
              <c:pt idx="32">
                <c:v>4.80</c:v>
              </c:pt>
              <c:pt idx="33">
                <c:v>4.95</c:v>
              </c:pt>
              <c:pt idx="34">
                <c:v>5.10</c:v>
              </c:pt>
              <c:pt idx="35">
                <c:v>5.25</c:v>
              </c:pt>
              <c:pt idx="36">
                <c:v>5.40</c:v>
              </c:pt>
              <c:pt idx="37">
                <c:v>5.55</c:v>
              </c:pt>
              <c:pt idx="38">
                <c:v>5.70</c:v>
              </c:pt>
              <c:pt idx="39">
                <c:v>5.85</c:v>
              </c:pt>
              <c:pt idx="40">
                <c:v>6.00</c:v>
              </c:pt>
            </c:numLit>
          </c:cat>
          <c:val>
            <c:numLit>
              <c:formatCode>General</c:formatCode>
              <c:ptCount val="41"/>
              <c:pt idx="0">
                <c:v>0</c:v>
              </c:pt>
              <c:pt idx="1">
                <c:v>0.010185827111183543</c:v>
              </c:pt>
              <c:pt idx="2">
                <c:v>0.03693631311376677</c:v>
              </c:pt>
              <c:pt idx="3">
                <c:v>0.07543918014842865</c:v>
              </c:pt>
              <c:pt idx="4">
                <c:v>0.1219013822495576</c:v>
              </c:pt>
              <c:pt idx="5">
                <c:v>0.17335853270322432</c:v>
              </c:pt>
              <c:pt idx="6">
                <c:v>0.22751764649286166</c:v>
              </c:pt>
              <c:pt idx="7">
                <c:v>0.2826276143221317</c:v>
              </c:pt>
              <c:pt idx="8">
                <c:v>0.33737273379315535</c:v>
              </c:pt>
              <c:pt idx="9">
                <c:v>0.39078538748215497</c:v>
              </c:pt>
              <c:pt idx="10">
                <c:v>0.44217459962892547</c:v>
              </c:pt>
              <c:pt idx="11">
                <c:v>0.4910677421550016</c:v>
              </c:pt>
              <c:pt idx="12">
                <c:v>0.5371631129795577</c:v>
              </c:pt>
              <c:pt idx="13">
                <c:v>0.5802914888197849</c:v>
              </c:pt>
              <c:pt idx="14">
                <c:v>0.620385072415756</c:v>
              </c:pt>
              <c:pt idx="15">
                <c:v>0.657452520173941</c:v>
              </c:pt>
              <c:pt idx="16">
                <c:v>0.6915589588159975</c:v>
              </c:pt>
              <c:pt idx="17">
                <c:v>0.7228100856959063</c:v>
              </c:pt>
              <c:pt idx="18">
                <c:v>0.7513396028629258</c:v>
              </c:pt>
              <c:pt idx="19">
                <c:v>0.777299364631872</c:v>
              </c:pt>
              <c:pt idx="20">
                <c:v>0.8008517265285442</c:v>
              </c:pt>
              <c:pt idx="21">
                <c:v>0.8221636735017832</c:v>
              </c:pt>
              <c:pt idx="22">
                <c:v>0.841402380174668</c:v>
              </c:pt>
              <c:pt idx="23">
                <c:v>0.8587319181175976</c:v>
              </c:pt>
              <c:pt idx="24">
                <c:v>0.8743108767424541</c:v>
              </c:pt>
              <c:pt idx="25">
                <c:v>0.8882907071839568</c:v>
              </c:pt>
              <c:pt idx="26">
                <c:v>0.9008146339155585</c:v>
              </c:pt>
              <c:pt idx="27">
                <c:v>0.9120170080705577</c:v>
              </c:pt>
              <c:pt idx="28">
                <c:v>0.9220230005335159</c:v>
              </c:pt>
              <c:pt idx="29">
                <c:v>0.9309485526944327</c:v>
              </c:pt>
              <c:pt idx="30">
                <c:v>0.9389005190396673</c:v>
              </c:pt>
              <c:pt idx="31">
                <c:v>0.9459769490924291</c:v>
              </c:pt>
              <c:pt idx="32">
                <c:v>0.9522674671156839</c:v>
              </c:pt>
              <c:pt idx="33">
                <c:v>0.9578537168721399</c:v>
              </c:pt>
              <c:pt idx="34">
                <c:v>0.9628098459503546</c:v>
              </c:pt>
              <c:pt idx="35">
                <c:v>0.9672030100051163</c:v>
              </c:pt>
              <c:pt idx="36">
                <c:v>0.9710938819672789</c:v>
              </c:pt>
              <c:pt idx="37">
                <c:v>0.9745371550552313</c:v>
              </c:pt>
              <c:pt idx="38">
                <c:v>0.9775820314349425</c:v>
              </c:pt>
              <c:pt idx="39">
                <c:v>0.9802726907670956</c:v>
              </c:pt>
              <c:pt idx="40">
                <c:v>0.9826487347633355</c:v>
              </c:pt>
            </c:numLit>
          </c:val>
        </c:ser>
        <c:ser>
          <c:idx val="2"/>
          <c:order val="2"/>
          <c:tx>
            <c:v>K = 4</c:v>
          </c:tx>
          <c:spPr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0.00</c:v>
              </c:pt>
              <c:pt idx="1">
                <c:v>0.15</c:v>
              </c:pt>
              <c:pt idx="2">
                <c:v>0.30</c:v>
              </c:pt>
              <c:pt idx="3">
                <c:v>0.45</c:v>
              </c:pt>
              <c:pt idx="4">
                <c:v>0.60</c:v>
              </c:pt>
              <c:pt idx="5">
                <c:v>0.75</c:v>
              </c:pt>
              <c:pt idx="6">
                <c:v>0.90</c:v>
              </c:pt>
              <c:pt idx="7">
                <c:v>1.05</c:v>
              </c:pt>
              <c:pt idx="8">
                <c:v>1.20</c:v>
              </c:pt>
              <c:pt idx="9">
                <c:v>1.35</c:v>
              </c:pt>
              <c:pt idx="10">
                <c:v>1.50</c:v>
              </c:pt>
              <c:pt idx="11">
                <c:v>1.65</c:v>
              </c:pt>
              <c:pt idx="12">
                <c:v>1.80</c:v>
              </c:pt>
              <c:pt idx="13">
                <c:v>1.95</c:v>
              </c:pt>
              <c:pt idx="14">
                <c:v>2.10</c:v>
              </c:pt>
              <c:pt idx="15">
                <c:v>2.25</c:v>
              </c:pt>
              <c:pt idx="16">
                <c:v>2.40</c:v>
              </c:pt>
              <c:pt idx="17">
                <c:v>2.55</c:v>
              </c:pt>
              <c:pt idx="18">
                <c:v>2.70</c:v>
              </c:pt>
              <c:pt idx="19">
                <c:v>2.85</c:v>
              </c:pt>
              <c:pt idx="20">
                <c:v>3.00</c:v>
              </c:pt>
              <c:pt idx="21">
                <c:v>3.15</c:v>
              </c:pt>
              <c:pt idx="22">
                <c:v>3.30</c:v>
              </c:pt>
              <c:pt idx="23">
                <c:v>3.45</c:v>
              </c:pt>
              <c:pt idx="24">
                <c:v>3.60</c:v>
              </c:pt>
              <c:pt idx="25">
                <c:v>3.75</c:v>
              </c:pt>
              <c:pt idx="26">
                <c:v>3.90</c:v>
              </c:pt>
              <c:pt idx="27">
                <c:v>4.05</c:v>
              </c:pt>
              <c:pt idx="28">
                <c:v>4.20</c:v>
              </c:pt>
              <c:pt idx="29">
                <c:v>4.35</c:v>
              </c:pt>
              <c:pt idx="30">
                <c:v>4.50</c:v>
              </c:pt>
              <c:pt idx="31">
                <c:v>4.65</c:v>
              </c:pt>
              <c:pt idx="32">
                <c:v>4.80</c:v>
              </c:pt>
              <c:pt idx="33">
                <c:v>4.95</c:v>
              </c:pt>
              <c:pt idx="34">
                <c:v>5.10</c:v>
              </c:pt>
              <c:pt idx="35">
                <c:v>5.25</c:v>
              </c:pt>
              <c:pt idx="36">
                <c:v>5.40</c:v>
              </c:pt>
              <c:pt idx="37">
                <c:v>5.55</c:v>
              </c:pt>
              <c:pt idx="38">
                <c:v>5.70</c:v>
              </c:pt>
              <c:pt idx="39">
                <c:v>5.85</c:v>
              </c:pt>
              <c:pt idx="40">
                <c:v>6.00</c:v>
              </c:pt>
            </c:numLit>
          </c:cat>
          <c:val>
            <c:numLit>
              <c:formatCode>General</c:formatCode>
              <c:ptCount val="41"/>
              <c:pt idx="0">
                <c:v>0</c:v>
              </c:pt>
              <c:pt idx="1">
                <c:v>0.04051923907303445</c:v>
              </c:pt>
              <c:pt idx="2">
                <c:v>0.1445835888863526</c:v>
              </c:pt>
              <c:pt idx="3">
                <c:v>0.28769225341754323</c:v>
              </c:pt>
              <c:pt idx="4">
                <c:v>0.448681390975173</c:v>
              </c:pt>
              <c:pt idx="5">
                <c:v>0.6104925345574281</c:v>
              </c:pt>
              <c:pt idx="6">
                <c:v>0.7604250235072533</c:v>
              </c:pt>
              <c:pt idx="7">
                <c:v>0.8899867001760915</c:v>
              </c:pt>
              <c:pt idx="8">
                <c:v>0.9944585163203747</c:v>
              </c:pt>
              <c:pt idx="9">
                <c:v>1.072280799677144</c:v>
              </c:pt>
              <c:pt idx="10">
                <c:v>1.1243547674084118</c:v>
              </c:pt>
              <c:pt idx="11">
                <c:v>1.1533351578765072</c:v>
              </c:pt>
              <c:pt idx="12">
                <c:v>1.1629708731458994</c:v>
              </c:pt>
              <c:pt idx="13">
                <c:v>1.1575320739553467</c:v>
              </c:pt>
              <c:pt idx="14">
                <c:v>1.1413455336225162</c:v>
              </c:pt>
              <c:pt idx="15">
                <c:v>1.1184460507317275</c:v>
              </c:pt>
              <c:pt idx="16">
                <c:v>1.0923407421568574</c:v>
              </c:pt>
              <c:pt idx="17">
                <c:v>1.0658751503413268</c:v>
              </c:pt>
              <c:pt idx="18">
                <c:v>1.0411851094703712</c:v>
              </c:pt>
              <c:pt idx="19">
                <c:v>1.019715858072871</c:v>
              </c:pt>
              <c:pt idx="20">
                <c:v>1.0022894940077183</c:v>
              </c:pt>
              <c:pt idx="21">
                <c:v>0.9892030365990011</c:v>
              </c:pt>
              <c:pt idx="22">
                <c:v>0.9803415952584114</c:v>
              </c:pt>
              <c:pt idx="23">
                <c:v>0.9752939955944402</c:v>
              </c:pt>
              <c:pt idx="24">
                <c:v>0.973461302744298</c:v>
              </c:pt>
              <c:pt idx="25">
                <c:v>0.9741517076604145</c:v>
              </c:pt>
              <c:pt idx="26">
                <c:v>0.9766579880718337</c:v>
              </c:pt>
              <c:pt idx="27">
                <c:v>0.9803160824757632</c:v>
              </c:pt>
              <c:pt idx="28">
                <c:v>0.9845451519290562</c:v>
              </c:pt>
              <c:pt idx="29">
                <c:v>0.9888708359362581</c:v>
              </c:pt>
              <c:pt idx="30">
                <c:v>0.9929342634684902</c:v>
              </c:pt>
              <c:pt idx="31">
                <c:v>0.9964898157074169</c:v>
              </c:pt>
              <c:pt idx="32">
                <c:v>0.9993947285201821</c:v>
              </c:pt>
              <c:pt idx="33">
                <c:v>1.001593452076861</c:v>
              </c:pt>
              <c:pt idx="34">
                <c:v>1.0030993334942977</c:v>
              </c:pt>
              <c:pt idx="35">
                <c:v>1.0039757299525813</c:v>
              </c:pt>
              <c:pt idx="36">
                <c:v>1.0043181574714497</c:v>
              </c:pt>
              <c:pt idx="37">
                <c:v>1.004238584572601</c:v>
              </c:pt>
              <c:pt idx="38">
                <c:v>1.0038525270333194</c:v>
              </c:pt>
              <c:pt idx="39">
                <c:v>1.0032692136889518</c:v>
              </c:pt>
              <c:pt idx="40">
                <c:v>1.0025847862685933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time (s)</a:t>
                </a:r>
              </a:p>
            </c:rich>
          </c:tx>
          <c:overlay val="0"/>
        </c:title>
        <c:numFmt formatCode="General"/>
        <c:majorTickMark val="none"/>
        <c:minorTickMark val="none"/>
        <c:tickLblSkip val="5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output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F2937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482" name="Rectangle 1026">
            <a:extLst xmlns:a="http://schemas.openxmlformats.org/drawingml/2006/main">
              <a:ext uri="{FF2B5EF4-FFF2-40B4-BE49-F238E27FC236}">
                <a16:creationId xmlns:a16="http://schemas.microsoft.com/office/drawing/2014/main" id="{68B33D87-39B2-40E4-B573-D6EC57588CF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039881" y="417655"/>
            <a:ext cx="8512175" cy="75971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600">
                <a:latin typeface="Segoe UI"/>
                <a:ea typeface="Segoe UI"/>
                <a:cs typeface="Segoe UI"/>
              </a:rPr>
              <a:t>EEL 3135 Systems and Signals</a:t>
            </a:r>
          </a:p>
        </p:txBody>
      </p:sp>
      <p:sp>
        <p:nvSpPr>
          <p:cNvPr id="20483" name="Rectangle 1027">
            <a:extLst xmlns:a="http://schemas.openxmlformats.org/drawingml/2006/main">
              <a:ext uri="{FF2B5EF4-FFF2-40B4-BE49-F238E27FC236}">
                <a16:creationId xmlns:a16="http://schemas.microsoft.com/office/drawing/2014/main" id="{98D5AC6A-7FDD-4DBE-844F-C71ACA5E8B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4800" y="1412303"/>
            <a:ext cx="11326585" cy="1143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600">
                <a:latin typeface="Segoe UI"/>
                <a:ea typeface="Segoe UI"/>
                <a:cs typeface="Segoe UI"/>
              </a:rPr>
              <a:t>Applications to Feedback and Controls</a:t>
            </a:r>
          </a:p>
        </p:txBody>
      </p:sp>
      <p:sp>
        <p:nvSpPr>
          <p:cNvPr id="8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C87E8C8-4A9F-4D91-AF76-FA2511B172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rPr>
                <a:latin typeface="Segoe UI"/>
                <a:ea typeface="Segoe UI"/>
                <a:cs typeface="Segoe UI"/>
              </a:rPr>
              <a:t>1</a:t>
            </a:fld>
            <a:endParaRPr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9957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7E17F660-2F53-4CF5-A4FA-02F167A1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Why close the loop?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917EB093-0BBE-4F07-A0E7-9F03F589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74FE9F5-A87C-48B6-BC0D-D3266FF5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Open heading">
            <a:extLst xmlns:a="http://schemas.openxmlformats.org/drawingml/2006/main">
              <a:ext uri="{FF2B5EF4-FFF2-40B4-BE49-F238E27FC236}">
                <a16:creationId xmlns:a16="http://schemas.microsoft.com/office/drawing/2014/main" id="{EBC6C694-F220-4096-B5FD-8E35B7AD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Open loop</a:t>
            </a:r>
          </a:p>
        </p:txBody>
      </p:sp>
      <p:sp>
        <p:nvSpPr>
          <p:cNvPr id="5" name="Open text">
            <a:extLst xmlns:a="http://schemas.openxmlformats.org/drawingml/2006/main">
              <a:ext uri="{FF2B5EF4-FFF2-40B4-BE49-F238E27FC236}">
                <a16:creationId xmlns:a16="http://schemas.microsoft.com/office/drawing/2014/main" id="{DF1CE300-A74A-4DAA-AA1B-04146782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The system acts without comparing its output with the desired value. Plant changes or disturbances directly change the result.</a:t>
            </a:r>
          </a:p>
        </p:txBody>
      </p:sp>
      <p:sp>
        <p:nvSpPr>
          <p:cNvPr id="6" name="Closed heading">
            <a:extLst xmlns:a="http://schemas.openxmlformats.org/drawingml/2006/main">
              <a:ext uri="{FF2B5EF4-FFF2-40B4-BE49-F238E27FC236}">
                <a16:creationId xmlns:a16="http://schemas.microsoft.com/office/drawing/2014/main" id="{A3B98B1C-EF1C-4247-BD55-C91F4648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00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Feedback loop</a:t>
            </a:r>
          </a:p>
        </p:txBody>
      </p:sp>
      <p:sp>
        <p:nvSpPr>
          <p:cNvPr id="7" name="Closed text">
            <a:extLst xmlns:a="http://schemas.openxmlformats.org/drawingml/2006/main">
              <a:ext uri="{FF2B5EF4-FFF2-40B4-BE49-F238E27FC236}">
                <a16:creationId xmlns:a16="http://schemas.microsoft.com/office/drawing/2014/main" id="{55E07D31-3B5D-4B41-8A28-22E07111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The measured output returns to the summing junction. The error signal drives the plant toward the reference.</a:t>
            </a:r>
          </a:p>
        </p:txBody>
      </p:sp>
      <p:sp>
        <p:nvSpPr>
          <p:cNvPr id="8" name="Uses">
            <a:extLst xmlns:a="http://schemas.openxmlformats.org/drawingml/2006/main">
              <a:ext uri="{FF2B5EF4-FFF2-40B4-BE49-F238E27FC236}">
                <a16:creationId xmlns:a16="http://schemas.microsoft.com/office/drawing/2014/main" id="{5C3D4C19-25AB-4CD9-B0CE-E517F8DE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62375"/>
            <a:ext cx="7715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Feedback can improve tracking and reduce some disturbances. It also moves the poles and changes the transient response.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8345C407-1FD7-462F-83A3-BFF7B544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Feedback changes the system dynamics. It does not merely correct the output value.</a:t>
            </a:r>
          </a:p>
        </p:txBody>
      </p:sp>
    </p:spTree>
    <p:extLst>
      <p:ext uri="{BB962C8B-B14F-4D97-AF65-F5344CB8AC3E}">
        <p14:creationId xmlns:p14="http://schemas.microsoft.com/office/powerpoint/2010/main" val="1670039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D71D3-57EE-481B-81BA-73BB62746DD9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5" idx="4"/>
          </p:cNvCxnSpPr>
          <p:nvPr/>
        </p:nvCxnSpPr>
        <p:spPr>
          <a:xfrm xmlns:a="http://schemas.openxmlformats.org/drawingml/2006/main" flipH="1" flipV="1">
            <a:off x="2409825" y="2981325"/>
            <a:ext cx="1781175" cy="163830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17365D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F0485-5921-4DFD-9798-5C264215375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6000750" y="2905125"/>
            <a:ext cx="1976438" cy="1714500"/>
          </a:xfrm>
          <a:prstGeom xmlns:a="http://schemas.openxmlformats.org/drawingml/2006/main" prst="bentConnector5">
            <a:avLst>
              <a:gd name="adj1" fmla="val 0"/>
              <a:gd name="adj2" fmla="val 13333"/>
              <a:gd name="adj3" fmla="val 88434"/>
            </a:avLst>
          </a:prstGeom>
          <a:ln xmlns:a="http://schemas.openxmlformats.org/drawingml/2006/main" w="23813">
            <a:solidFill>
              <a:srgbClr val="17365D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9ABEF-23A1-43BB-8C49-F1E438B6D77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62625" y="2647950"/>
            <a:ext cx="17145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65D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3FD6A-7E2B-4146-BB6B-8F77662E0EAD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724150" y="2647950"/>
            <a:ext cx="1133475" cy="190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65D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E16EE-0064-474B-8D03-EADFE209631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1476375" y="2667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65D"/>
            </a:solidFill>
            <a:prstDash val="solid"/>
            <a:tailEnd type="triangle" w="sm" len="sm"/>
          </a:ln>
        </p:spPr>
      </p:cxn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E602C59C-08AC-4503-A964-E80BB08B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Negative-feedback interconnection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192BC957-ABCE-45FE-AB95-2DE2748D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437D78F-6C63-4C63-B993-E98C1974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R(s)">
            <a:extLst xmlns:a="http://schemas.openxmlformats.org/drawingml/2006/main">
              <a:ext uri="{FF2B5EF4-FFF2-40B4-BE49-F238E27FC236}">
                <a16:creationId xmlns:a16="http://schemas.microsoft.com/office/drawing/2014/main" id="{29CCE9DA-3FFF-4682-816F-89473FD3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R(s)</a:t>
            </a:r>
          </a:p>
        </p:txBody>
      </p:sp>
      <p:sp>
        <p:nvSpPr>
          <p:cNvPr id="5" name="Summing junction">
            <a:extLst xmlns:a="http://schemas.openxmlformats.org/drawingml/2006/main">
              <a:ext uri="{FF2B5EF4-FFF2-40B4-BE49-F238E27FC236}">
                <a16:creationId xmlns:a16="http://schemas.microsoft.com/office/drawing/2014/main" id="{66A545EE-D91D-4563-A5BF-D024FE18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526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+</a:t>
            </a:r>
          </a:p>
        </p:txBody>
      </p:sp>
      <p:sp>
        <p:nvSpPr>
          <p:cNvPr id="6" name="G(s)">
            <a:extLst xmlns:a="http://schemas.openxmlformats.org/drawingml/2006/main">
              <a:ext uri="{FF2B5EF4-FFF2-40B4-BE49-F238E27FC236}">
                <a16:creationId xmlns:a16="http://schemas.microsoft.com/office/drawing/2014/main" id="{CDDCA057-3406-48B9-AF25-11718A5E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907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19050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G(s)</a:t>
            </a:r>
          </a:p>
        </p:txBody>
      </p:sp>
      <p:sp>
        <p:nvSpPr>
          <p:cNvPr id="7" name="Y(s)">
            <a:extLst xmlns:a="http://schemas.openxmlformats.org/drawingml/2006/main">
              <a:ext uri="{FF2B5EF4-FFF2-40B4-BE49-F238E27FC236}">
                <a16:creationId xmlns:a16="http://schemas.microsoft.com/office/drawing/2014/main" id="{712CAE22-4FCF-40AE-A2B5-89780828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28875"/>
            <a:ext cx="100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Y(s)</a:t>
            </a:r>
          </a:p>
        </p:txBody>
      </p:sp>
      <p:sp>
        <p:nvSpPr>
          <p:cNvPr id="8" name="H(s)">
            <a:extLst xmlns:a="http://schemas.openxmlformats.org/drawingml/2006/main">
              <a:ext uri="{FF2B5EF4-FFF2-40B4-BE49-F238E27FC236}">
                <a16:creationId xmlns:a16="http://schemas.microsoft.com/office/drawing/2014/main" id="{080CA0D2-B396-46A3-A6E2-542205B3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38625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H(s)</a:t>
            </a:r>
          </a:p>
        </p:txBody>
      </p:sp>
      <p:sp>
        <p:nvSpPr>
          <p:cNvPr id="14" name="Error">
            <a:extLst xmlns:a="http://schemas.openxmlformats.org/drawingml/2006/main">
              <a:ext uri="{FF2B5EF4-FFF2-40B4-BE49-F238E27FC236}">
                <a16:creationId xmlns:a16="http://schemas.microsoft.com/office/drawing/2014/main" id="{BCE488C1-578A-4CED-B830-D6766B85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E(s)</a:t>
            </a:r>
          </a:p>
        </p:txBody>
      </p:sp>
      <p:sp>
        <p:nvSpPr>
          <p:cNvPr id="15" name="Minus">
            <a:extLst xmlns:a="http://schemas.openxmlformats.org/drawingml/2006/main">
              <a:ext uri="{FF2B5EF4-FFF2-40B4-BE49-F238E27FC236}">
                <a16:creationId xmlns:a16="http://schemas.microsoft.com/office/drawing/2014/main" id="{F948D904-A85C-4471-9F95-0F1A9D69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432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−</a:t>
            </a:r>
          </a:p>
        </p:txBody>
      </p:sp>
      <p:sp>
        <p:nvSpPr>
          <p:cNvPr id="16" name="Equations">
            <a:extLst xmlns:a="http://schemas.openxmlformats.org/drawingml/2006/main">
              <a:ext uri="{FF2B5EF4-FFF2-40B4-BE49-F238E27FC236}">
                <a16:creationId xmlns:a16="http://schemas.microsoft.com/office/drawing/2014/main" id="{B3C0E87D-7D6A-4C7C-A515-69220A60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E(s) = R(s) − H(s)Y(s)</a:t>
            </a:r>
          </a:p>
          <a:p xmlns:a="http://schemas.openxmlformats.org/drawingml/2006/main">
            <a:pPr algn="l">
              <a:defRPr sz="20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Y(s) = G(s)E(s)</a:t>
            </a:r>
          </a:p>
        </p:txBody>
      </p:sp>
      <p:sp>
        <p:nvSpPr>
          <p:cNvPr id="17" name="Key message">
            <a:extLst xmlns:a="http://schemas.openxmlformats.org/drawingml/2006/main">
              <a:ext uri="{FF2B5EF4-FFF2-40B4-BE49-F238E27FC236}">
                <a16:creationId xmlns:a16="http://schemas.microsoft.com/office/drawing/2014/main" id="{D43A9DBA-5A6D-4452-A3B0-F288FAB6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feedback-path model is H(s). A gain inside G(s) remains a forward-path gain.</a:t>
            </a:r>
          </a:p>
        </p:txBody>
      </p:sp>
    </p:spTree>
    <p:extLst>
      <p:ext uri="{BB962C8B-B14F-4D97-AF65-F5344CB8AC3E}">
        <p14:creationId xmlns:p14="http://schemas.microsoft.com/office/powerpoint/2010/main" val="1996304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34943FC-F23D-4AE1-BD05-1B32EE87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Closed-loop transfer function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B342A5CC-BA5C-46DB-8DBB-E0EAE2D9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B32C967-BC62-46AF-8304-72894622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Step1">
            <a:extLst xmlns:a="http://schemas.openxmlformats.org/drawingml/2006/main">
              <a:ext uri="{FF2B5EF4-FFF2-40B4-BE49-F238E27FC236}">
                <a16:creationId xmlns:a16="http://schemas.microsoft.com/office/drawing/2014/main" id="{F3CE5B35-8E76-4964-859A-3F65A59E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09537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6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6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6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6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6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6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6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6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6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6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Y(s) = G(s)[R(s) − H(s)Y(s)]</a:t>
            </a:r>
          </a:p>
        </p:txBody>
      </p:sp>
      <p:sp>
        <p:nvSpPr>
          <p:cNvPr id="5" name="Step2">
            <a:extLst xmlns:a="http://schemas.openxmlformats.org/drawingml/2006/main">
              <a:ext uri="{FF2B5EF4-FFF2-40B4-BE49-F238E27FC236}">
                <a16:creationId xmlns:a16="http://schemas.microsoft.com/office/drawing/2014/main" id="{33119005-3E5F-4302-A0D6-A7C9B29F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3837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[1 + G(s)H(s)]Y(s) = G(s)R(s)</a:t>
            </a:r>
          </a:p>
        </p:txBody>
      </p:sp>
      <p:sp>
        <p:nvSpPr>
          <p:cNvPr id="6" name="Result">
            <a:extLst xmlns:a="http://schemas.openxmlformats.org/drawingml/2006/main">
              <a:ext uri="{FF2B5EF4-FFF2-40B4-BE49-F238E27FC236}">
                <a16:creationId xmlns:a16="http://schemas.microsoft.com/office/drawing/2014/main" id="{F4DEF221-935B-463C-BF1F-99C18269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T(s) = Y(s)/R(s) = G(s)/[1 + G(s)H(s)]</a:t>
            </a:r>
          </a:p>
        </p:txBody>
      </p:sp>
      <p:sp>
        <p:nvSpPr>
          <p:cNvPr id="7" name="Unity">
            <a:extLst xmlns:a="http://schemas.openxmlformats.org/drawingml/2006/main">
              <a:ext uri="{FF2B5EF4-FFF2-40B4-BE49-F238E27FC236}">
                <a16:creationId xmlns:a16="http://schemas.microsoft.com/office/drawing/2014/main" id="{4BA4D2C7-6E02-48CA-A539-E8826FAA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Unity feedback: H(s) = 1</a:t>
            </a:r>
          </a:p>
        </p:txBody>
      </p:sp>
      <p:sp>
        <p:nvSpPr>
          <p:cNvPr id="8" name="Key message">
            <a:extLst xmlns:a="http://schemas.openxmlformats.org/drawingml/2006/main">
              <a:ext uri="{FF2B5EF4-FFF2-40B4-BE49-F238E27FC236}">
                <a16:creationId xmlns:a16="http://schemas.microsoft.com/office/drawing/2014/main" id="{AEE112F1-FBE5-478F-A7D9-4FBCAE00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denominator changes when the loop closes.</a:t>
            </a:r>
          </a:p>
        </p:txBody>
      </p:sp>
    </p:spTree>
    <p:extLst>
      <p:ext uri="{BB962C8B-B14F-4D97-AF65-F5344CB8AC3E}">
        <p14:creationId xmlns:p14="http://schemas.microsoft.com/office/powerpoint/2010/main" val="18712749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81A5AC98-A01B-414C-8CCE-1869B7DC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Closed-loop poles and stability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90470973-8C15-4EA7-9C9A-19DC5BC6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7A69F49-D34C-4F0F-B0AA-2CB04B8F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Characteristic">
            <a:extLst xmlns:a="http://schemas.openxmlformats.org/drawingml/2006/main">
              <a:ext uri="{FF2B5EF4-FFF2-40B4-BE49-F238E27FC236}">
                <a16:creationId xmlns:a16="http://schemas.microsoft.com/office/drawing/2014/main" id="{8171FD7A-9BD9-441D-B165-010595A9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Characteristic equation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6A64FCBC-8A33-4B34-AE62-97121BB7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8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8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8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8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8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8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8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8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8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1 + G(s)H(s) = 0</a:t>
            </a:r>
          </a:p>
        </p:txBody>
      </p:sp>
      <p:sp>
        <p:nvSpPr>
          <p:cNvPr id="6" name="Meaning">
            <a:extLst xmlns:a="http://schemas.openxmlformats.org/drawingml/2006/main">
              <a:ext uri="{FF2B5EF4-FFF2-40B4-BE49-F238E27FC236}">
                <a16:creationId xmlns:a16="http://schemas.microsoft.com/office/drawing/2014/main" id="{5F8AC15C-3B60-4DBC-9AD9-BEFAC908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Its roots are the closed-loop poles. They determine decay, oscillation, and stability after feedback is connected.</a:t>
            </a:r>
          </a:p>
        </p:txBody>
      </p:sp>
      <p:sp>
        <p:nvSpPr>
          <p:cNvPr id="7" name="Warning">
            <a:extLst xmlns:a="http://schemas.openxmlformats.org/drawingml/2006/main">
              <a:ext uri="{FF2B5EF4-FFF2-40B4-BE49-F238E27FC236}">
                <a16:creationId xmlns:a16="http://schemas.microsoft.com/office/drawing/2014/main" id="{AC2C1FDC-B2AB-4A09-8866-3329FA0A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The poles of G(s) alone are not the closed-loop poles.</a:t>
            </a:r>
          </a:p>
        </p:txBody>
      </p:sp>
      <p:sp>
        <p:nvSpPr>
          <p:cNvPr id="8" name="Stability">
            <a:extLst xmlns:a="http://schemas.openxmlformats.org/drawingml/2006/main">
              <a:ext uri="{FF2B5EF4-FFF2-40B4-BE49-F238E27FC236}">
                <a16:creationId xmlns:a16="http://schemas.microsoft.com/office/drawing/2014/main" id="{20FD5ED5-3192-4F96-A10E-D8B854F5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33500"/>
            <a:ext cx="4381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For a causal rational closed loop: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All poles in the open left half-plane</a:t>
            </a:r>
          </a:p>
          <a:p xmlns:a="http://schemas.openxmlformats.org/drawingml/2006/main">
            <a: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Any pole in the right half-plane</a:t>
            </a:r>
          </a:p>
          <a:p xmlns:a="http://schemas.openxmlformats.org/drawingml/2006/main">
            <a:pPr algn="ctr">
              <a:defRPr sz="210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Unstable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2A30DAA7-FF43-4012-BBEF-268C0462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Simplify the closed-loop transfer function before classifying its poles.</a:t>
            </a:r>
          </a:p>
        </p:txBody>
      </p:sp>
    </p:spTree>
    <p:extLst>
      <p:ext uri="{BB962C8B-B14F-4D97-AF65-F5344CB8AC3E}">
        <p14:creationId xmlns:p14="http://schemas.microsoft.com/office/powerpoint/2010/main" val="1538512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04361C2D-DC80-4746-BCC3-062C5014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Gain example: G(s) = K/[s(s + 2)]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FCCFF690-B836-416A-BF36-D2A6E987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B7E137D-3339-45C2-BFC0-B448E0E1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Closed loop">
            <a:extLst xmlns:a="http://schemas.openxmlformats.org/drawingml/2006/main">
              <a:ext uri="{FF2B5EF4-FFF2-40B4-BE49-F238E27FC236}">
                <a16:creationId xmlns:a16="http://schemas.microsoft.com/office/drawing/2014/main" id="{09989AE6-8BBB-4283-84F5-3CBF96A7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Unity feedback gives</a:t>
            </a:r>
          </a:p>
        </p:txBody>
      </p:sp>
      <p:sp>
        <p:nvSpPr>
          <p:cNvPr id="5" name="T">
            <a:extLst xmlns:a="http://schemas.openxmlformats.org/drawingml/2006/main">
              <a:ext uri="{FF2B5EF4-FFF2-40B4-BE49-F238E27FC236}">
                <a16:creationId xmlns:a16="http://schemas.microsoft.com/office/drawing/2014/main" id="{5AA26DC1-62CA-4576-929C-993E30BD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T(s) = K/(s² + 2s + K)</a:t>
            </a:r>
          </a:p>
        </p:txBody>
      </p:sp>
      <p:sp>
        <p:nvSpPr>
          <p:cNvPr id="6" name="Poles">
            <a:extLst xmlns:a="http://schemas.openxmlformats.org/drawingml/2006/main">
              <a:ext uri="{FF2B5EF4-FFF2-40B4-BE49-F238E27FC236}">
                <a16:creationId xmlns:a16="http://schemas.microsoft.com/office/drawing/2014/main" id="{5AFC2AEF-13ED-42B8-A2D7-662DDF38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Poles: s = −1 ± √(1 − K)</a:t>
            </a:r>
          </a:p>
        </p:txBody>
      </p:sp>
      <p:sp>
        <p:nvSpPr>
          <p:cNvPr id="7" name="Cases">
            <a:extLst xmlns:a="http://schemas.openxmlformats.org/drawingml/2006/main">
              <a:ext uri="{FF2B5EF4-FFF2-40B4-BE49-F238E27FC236}">
                <a16:creationId xmlns:a16="http://schemas.microsoft.com/office/drawing/2014/main" id="{C4F99648-1DE5-4CAD-B6C9-1E4EDDDB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K = 0.5: two negative real poles</a:t>
            </a:r>
          </a:p>
          <a:p xmlns:a="http://schemas.openxmlformats.org/drawingml/2006/main">
            <a: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K = 1: repeated pole at −1</a:t>
            </a:r>
          </a:p>
          <a:p xmlns:a="http://schemas.openxmlformats.org/drawingml/2006/main">
            <a: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K = 4: poles at −1 ± j√3</a:t>
            </a:r>
          </a:p>
        </p:txBody>
      </p:sp>
      <p:sp>
        <p:nvSpPr>
          <p:cNvPr id="8" name="Standard form">
            <a:extLst xmlns:a="http://schemas.openxmlformats.org/drawingml/2006/main">
              <a:ext uri="{FF2B5EF4-FFF2-40B4-BE49-F238E27FC236}">
                <a16:creationId xmlns:a16="http://schemas.microsoft.com/office/drawing/2014/main" id="{A9A41BF9-0816-4C06-BF2B-B37B46CC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Compare s² + 2s + K with</a:t>
            </a:r>
          </a:p>
          <a:p xmlns:a="http://schemas.openxmlformats.org/drawingml/2006/main">
            <a: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s² + 2ζωₙs + ωₙ²</a:t>
            </a:r>
          </a:p>
        </p:txBody>
      </p:sp>
      <p:sp>
        <p:nvSpPr>
          <p:cNvPr id="9" name="Parameters">
            <a:extLst xmlns:a="http://schemas.openxmlformats.org/drawingml/2006/main">
              <a:ext uri="{FF2B5EF4-FFF2-40B4-BE49-F238E27FC236}">
                <a16:creationId xmlns:a16="http://schemas.microsoft.com/office/drawing/2014/main" id="{DEED147A-701F-4DB2-842F-84D256EF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ωₙ = √K</a:t>
            </a:r>
          </a:p>
          <a:p xmlns:a="http://schemas.openxmlformats.org/drawingml/2006/main">
            <a:pPr algn="ctr">
              <a:defRPr sz="292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ζ = 1/√K</a:t>
            </a:r>
          </a:p>
        </p:txBody>
      </p:sp>
      <p:sp>
        <p:nvSpPr>
          <p:cNvPr id="10" name="Tradeoff">
            <a:extLst xmlns:a="http://schemas.openxmlformats.org/drawingml/2006/main">
              <a:ext uri="{FF2B5EF4-FFF2-40B4-BE49-F238E27FC236}">
                <a16:creationId xmlns:a16="http://schemas.microsoft.com/office/drawing/2014/main" id="{F2DC1FC4-EBE6-44EF-A330-AD51750B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195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Larger K increases natural frequency and reduces damping ratio.</a:t>
            </a:r>
          </a:p>
        </p:txBody>
      </p:sp>
      <p:sp>
        <p:nvSpPr>
          <p:cNvPr id="11" name="Key message">
            <a:extLst xmlns:a="http://schemas.openxmlformats.org/drawingml/2006/main">
              <a:ext uri="{FF2B5EF4-FFF2-40B4-BE49-F238E27FC236}">
                <a16:creationId xmlns:a16="http://schemas.microsoft.com/office/drawing/2014/main" id="{47802A20-E92C-4F1F-A521-F1E8B5F5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Changing gain moves the closed-loop poles and changes the response shape.</a:t>
            </a:r>
          </a:p>
        </p:txBody>
      </p:sp>
    </p:spTree>
    <p:extLst>
      <p:ext uri="{BB962C8B-B14F-4D97-AF65-F5344CB8AC3E}">
        <p14:creationId xmlns:p14="http://schemas.microsoft.com/office/powerpoint/2010/main" val="889273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8BFD9F4D-B3B2-4898-A519-1752862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Activity 1: Classify the closed-loop response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8221B7AD-B3AC-4A14-AC46-2BFEC9B2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380EE5A-FADC-4DDA-84C2-EEE28095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Prompt">
            <a:extLst xmlns:a="http://schemas.openxmlformats.org/drawingml/2006/main">
              <a:ext uri="{FF2B5EF4-FFF2-40B4-BE49-F238E27FC236}">
                <a16:creationId xmlns:a16="http://schemas.microsoft.com/office/drawing/2014/main" id="{497D2C26-F29A-4C9D-A2A5-C93B524F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A unity-feedback system has G(s) = 4/[s(s + 2)]. Which description is correct?</a:t>
            </a:r>
          </a:p>
        </p:txBody>
      </p:sp>
      <p:sp>
        <p:nvSpPr>
          <p:cNvPr id="5" name="Option 1">
            <a:extLst xmlns:a="http://schemas.openxmlformats.org/drawingml/2006/main">
              <a:ext uri="{FF2B5EF4-FFF2-40B4-BE49-F238E27FC236}">
                <a16:creationId xmlns:a16="http://schemas.microsoft.com/office/drawing/2014/main" id="{D24D6F14-293D-4605-9815-E7CF4BC8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95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A. Unstable because the forward path contains an integrator</a:t>
            </a:r>
          </a:p>
        </p:txBody>
      </p:sp>
      <p:sp>
        <p:nvSpPr>
          <p:cNvPr id="6" name="Option 2">
            <a:extLst xmlns:a="http://schemas.openxmlformats.org/drawingml/2006/main">
              <a:ext uri="{FF2B5EF4-FFF2-40B4-BE49-F238E27FC236}">
                <a16:creationId xmlns:a16="http://schemas.microsoft.com/office/drawing/2014/main" id="{6A861F4B-559C-4A53-B378-16A7C9DE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00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95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B. Stable and overdamped with two real poles</a:t>
            </a:r>
          </a:p>
        </p:txBody>
      </p:sp>
      <p:sp>
        <p:nvSpPr>
          <p:cNvPr id="7" name="Option 3">
            <a:extLst xmlns:a="http://schemas.openxmlformats.org/drawingml/2006/main">
              <a:ext uri="{FF2B5EF4-FFF2-40B4-BE49-F238E27FC236}">
                <a16:creationId xmlns:a16="http://schemas.microsoft.com/office/drawing/2014/main" id="{5E754BF4-443A-42CE-A3C0-0944BE10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671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95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C. Stable and underdamped with poles at −1 ± j√3</a:t>
            </a:r>
          </a:p>
        </p:txBody>
      </p:sp>
      <p:sp>
        <p:nvSpPr>
          <p:cNvPr id="8" name="Option 4">
            <a:extLst xmlns:a="http://schemas.openxmlformats.org/drawingml/2006/main">
              <a:ext uri="{FF2B5EF4-FFF2-40B4-BE49-F238E27FC236}">
                <a16:creationId xmlns:a16="http://schemas.microsoft.com/office/drawing/2014/main" id="{FF26BB7B-2A3A-45C8-BE59-BD2F8A92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338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95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D. Undamped because the closed-loop poles are imaginary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4AB6F64D-0F3C-468C-87E4-9BF3E9A7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Form the closed-loop denominator before classifying the poles.</a:t>
            </a:r>
          </a:p>
        </p:txBody>
      </p:sp>
    </p:spTree>
    <p:extLst>
      <p:ext uri="{BB962C8B-B14F-4D97-AF65-F5344CB8AC3E}">
        <p14:creationId xmlns:p14="http://schemas.microsoft.com/office/powerpoint/2010/main" val="14360551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9B937B6-D3A3-4219-B2E7-374009F5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Gain changes the step response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ED82F8F9-3E51-43B8-AB34-EF639030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19EB2BD-3B04-45EC-8284-027F8BC8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547E53E4-9F46-4323-AB75-533AF350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K = 0.5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Slow overdamped response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K = 1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Fastest response without oscillation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K = 4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Faster initial rise with overshoot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EC15591-6E52-4D70-898D-41FFEFB53ABC}"/>
              </a:ext>
            </a:extLst>
          </p:cNvPr>
          <p:cNvGraphicFramePr/>
          <p:nvPr/>
        </p:nvGraphicFramePr>
        <p:xfrm>
          <a:off xmlns:a="http://schemas.openxmlformats.org/drawingml/2006/main" x="4905375" y="1066800"/>
          <a:ext xmlns:a="http://schemas.openxmlformats.org/drawingml/2006/main" cx="647700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27ed5497fa4798"/>
          </a:graphicData>
        </a:graphic>
      </p:graphicFrame>
      <p:sp>
        <p:nvSpPr>
          <p:cNvPr id="6" name="Key message">
            <a:extLst xmlns:a="http://schemas.openxmlformats.org/drawingml/2006/main">
              <a:ext uri="{FF2B5EF4-FFF2-40B4-BE49-F238E27FC236}">
                <a16:creationId xmlns:a16="http://schemas.microsoft.com/office/drawing/2014/main" id="{CD7EFD1F-B255-47AE-88ED-5FC2EA31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pole prediction explains the waveform before the simulation is shown.</a:t>
            </a:r>
          </a:p>
        </p:txBody>
      </p:sp>
    </p:spTree>
    <p:extLst>
      <p:ext uri="{BB962C8B-B14F-4D97-AF65-F5344CB8AC3E}">
        <p14:creationId xmlns:p14="http://schemas.microsoft.com/office/powerpoint/2010/main" val="1076954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AE94F688-EACD-4E0F-851A-DAA95C37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Reference tracking and final value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E808CDE8-8839-4E67-8638-37CEB1F1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84A8C96-D702-4634-8B4D-BD972D88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Step">
            <a:extLst xmlns:a="http://schemas.openxmlformats.org/drawingml/2006/main">
              <a:ext uri="{FF2B5EF4-FFF2-40B4-BE49-F238E27FC236}">
                <a16:creationId xmlns:a16="http://schemas.microsoft.com/office/drawing/2014/main" id="{7B9101A8-3CB0-4076-AFF6-9291180D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953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Unit-step reference: R(s) = 1/s</a:t>
            </a:r>
          </a:p>
        </p:txBody>
      </p:sp>
      <p:sp>
        <p:nvSpPr>
          <p:cNvPr id="5" name="Final">
            <a:extLst xmlns:a="http://schemas.openxmlformats.org/drawingml/2006/main">
              <a:ext uri="{FF2B5EF4-FFF2-40B4-BE49-F238E27FC236}">
                <a16:creationId xmlns:a16="http://schemas.microsoft.com/office/drawing/2014/main" id="{6631DC25-DAF3-48F0-80D4-B2E3165C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y(∞) = lim   sT(s)R(s) = T(0)</a:t>
            </a:r>
          </a:p>
        </p:txBody>
      </p:sp>
      <p:sp>
        <p:nvSpPr>
          <p:cNvPr id="6" name="Limit">
            <a:extLst xmlns:a="http://schemas.openxmlformats.org/drawingml/2006/main">
              <a:ext uri="{FF2B5EF4-FFF2-40B4-BE49-F238E27FC236}">
                <a16:creationId xmlns:a16="http://schemas.microsoft.com/office/drawing/2014/main" id="{E0DA9407-BFAF-435A-B19A-60293939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71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135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s→0</a:t>
            </a:r>
          </a:p>
        </p:txBody>
      </p:sp>
      <p:sp>
        <p:nvSpPr>
          <p:cNvPr id="7" name="Example">
            <a:extLst xmlns:a="http://schemas.openxmlformats.org/drawingml/2006/main">
              <a:ext uri="{FF2B5EF4-FFF2-40B4-BE49-F238E27FC236}">
                <a16:creationId xmlns:a16="http://schemas.microsoft.com/office/drawing/2014/main" id="{6616F3EC-8591-4169-B09C-2C25DC2E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For T(s) = K/(s² + 2s + K),</a:t>
            </a:r>
          </a:p>
          <a:p xmlns:a="http://schemas.openxmlformats.org/drawingml/2006/main">
            <a:pPr algn="l">
              <a:defRPr sz="2250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T(0) = 1 for K &gt; 0.</a:t>
            </a:r>
          </a:p>
        </p:txBody>
      </p:sp>
      <p:sp>
        <p:nvSpPr>
          <p:cNvPr id="8" name="Condition">
            <a:extLst xmlns:a="http://schemas.openxmlformats.org/drawingml/2006/main">
              <a:ext uri="{FF2B5EF4-FFF2-40B4-BE49-F238E27FC236}">
                <a16:creationId xmlns:a16="http://schemas.microsoft.com/office/drawing/2014/main" id="{BDD6BD06-38E4-40E4-9387-3689ABF3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The stable closed loop reaches a unit-step reference with zero steady-state error.</a:t>
            </a:r>
          </a:p>
        </p:txBody>
      </p:sp>
      <p:sp>
        <p:nvSpPr>
          <p:cNvPr id="9" name="Caveat">
            <a:extLst xmlns:a="http://schemas.openxmlformats.org/drawingml/2006/main">
              <a:ext uri="{FF2B5EF4-FFF2-40B4-BE49-F238E27FC236}">
                <a16:creationId xmlns:a16="http://schemas.microsoft.com/office/drawing/2014/main" id="{D691B54E-E9AF-481E-A893-9CDA61EF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195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Check the poles of sY(s) before applying the final-value theorem.</a:t>
            </a:r>
          </a:p>
        </p:txBody>
      </p:sp>
      <p:sp>
        <p:nvSpPr>
          <p:cNvPr id="10" name="Key message">
            <a:extLst xmlns:a="http://schemas.openxmlformats.org/drawingml/2006/main">
              <a:ext uri="{FF2B5EF4-FFF2-40B4-BE49-F238E27FC236}">
                <a16:creationId xmlns:a16="http://schemas.microsoft.com/office/drawing/2014/main" id="{726FE44F-566B-48E1-990B-8C601FBB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Tracking performance and stability must be checked together.</a:t>
            </a:r>
          </a:p>
        </p:txBody>
      </p:sp>
    </p:spTree>
    <p:extLst>
      <p:ext uri="{BB962C8B-B14F-4D97-AF65-F5344CB8AC3E}">
        <p14:creationId xmlns:p14="http://schemas.microsoft.com/office/powerpoint/2010/main" val="1752399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3954BC20-13CC-42D6-8B3D-8138946D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Output disturbance rejection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CE26CFAE-2A5A-45A9-885A-00036447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B95151D-646B-438A-B195-3B0139B9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94ABFF2D-71E0-43FF-A72B-557035DC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09537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Y(s) = G(s)[R(s) − Y(s)] + D(s)</a:t>
            </a:r>
          </a:p>
        </p:txBody>
      </p:sp>
      <p:sp>
        <p:nvSpPr>
          <p:cNvPr id="5" name="Result">
            <a:extLst xmlns:a="http://schemas.openxmlformats.org/drawingml/2006/main">
              <a:ext uri="{FF2B5EF4-FFF2-40B4-BE49-F238E27FC236}">
                <a16:creationId xmlns:a16="http://schemas.microsoft.com/office/drawing/2014/main" id="{2EF5FC85-BD76-4B7E-956F-9F681F7D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Y(s) = G(s)/[1 + G(s)] R(s) + 1/[1 + G(s)] D(s)</a:t>
            </a:r>
          </a:p>
        </p:txBody>
      </p:sp>
      <p:sp>
        <p:nvSpPr>
          <p:cNvPr id="6" name="Sensitivity">
            <a:extLst xmlns:a="http://schemas.openxmlformats.org/drawingml/2006/main">
              <a:ext uri="{FF2B5EF4-FFF2-40B4-BE49-F238E27FC236}">
                <a16:creationId xmlns:a16="http://schemas.microsoft.com/office/drawing/2014/main" id="{CE9A9EF4-AB3F-441B-8762-BE80752C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718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Sensitivity function</a:t>
            </a:r>
          </a:p>
        </p:txBody>
      </p:sp>
      <p:sp>
        <p:nvSpPr>
          <p:cNvPr id="7" name="S">
            <a:extLst xmlns:a="http://schemas.openxmlformats.org/drawingml/2006/main">
              <a:ext uri="{FF2B5EF4-FFF2-40B4-BE49-F238E27FC236}">
                <a16:creationId xmlns:a16="http://schemas.microsoft.com/office/drawing/2014/main" id="{5AE4272D-428B-475D-9670-1C5A35E5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386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S(s) = 1/[1 + G(s)]</a:t>
            </a:r>
          </a:p>
        </p:txBody>
      </p:sp>
      <p:sp>
        <p:nvSpPr>
          <p:cNvPr id="8" name="Meaning">
            <a:extLst xmlns:a="http://schemas.openxmlformats.org/drawingml/2006/main">
              <a:ext uri="{FF2B5EF4-FFF2-40B4-BE49-F238E27FC236}">
                <a16:creationId xmlns:a16="http://schemas.microsoft.com/office/drawing/2014/main" id="{1953E318-3BFA-4592-B033-CA962BC2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Large |G(jω)| makes |S(jω)| small at that frequency, so the loop reduces an output disturbance there.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E3C0D0A7-5C78-477A-A559-5AB5EB6B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Disturbance rejection depends on frequency.</a:t>
            </a:r>
          </a:p>
        </p:txBody>
      </p:sp>
    </p:spTree>
    <p:extLst>
      <p:ext uri="{BB962C8B-B14F-4D97-AF65-F5344CB8AC3E}">
        <p14:creationId xmlns:p14="http://schemas.microsoft.com/office/powerpoint/2010/main" val="880920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19538D9D-22C7-4770-BE39-171EBFCC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Measurement noise and complementary sensitivity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21DDE41B-DAF1-4252-9D4F-2F004FFA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CC02828-9536-478A-BCF6-65F2D489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Noise">
            <a:extLst xmlns:a="http://schemas.openxmlformats.org/drawingml/2006/main">
              <a:ext uri="{FF2B5EF4-FFF2-40B4-BE49-F238E27FC236}">
                <a16:creationId xmlns:a16="http://schemas.microsoft.com/office/drawing/2014/main" id="{60605771-345D-42BB-9EA7-D433F78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Measurement noise N(s) enters the feedback measurement.</a:t>
            </a:r>
          </a:p>
        </p:txBody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996349B3-D0CA-4EE9-AAFA-7892F526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Y(s) = G(s)/[1 + G(s)] R(s) − G(s)/[1 + G(s)] N(s)</a:t>
            </a:r>
          </a:p>
        </p:txBody>
      </p:sp>
      <p:sp>
        <p:nvSpPr>
          <p:cNvPr id="6" name="T">
            <a:extLst xmlns:a="http://schemas.openxmlformats.org/drawingml/2006/main">
              <a:ext uri="{FF2B5EF4-FFF2-40B4-BE49-F238E27FC236}">
                <a16:creationId xmlns:a16="http://schemas.microsoft.com/office/drawing/2014/main" id="{33AC26E6-A6D8-4702-B83F-6CC14365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T(s) = G(s)/[1 + G(s)]</a:t>
            </a:r>
          </a:p>
        </p:txBody>
      </p:sp>
      <p:sp>
        <p:nvSpPr>
          <p:cNvPr id="7" name="S">
            <a:extLst xmlns:a="http://schemas.openxmlformats.org/drawingml/2006/main">
              <a:ext uri="{FF2B5EF4-FFF2-40B4-BE49-F238E27FC236}">
                <a16:creationId xmlns:a16="http://schemas.microsoft.com/office/drawing/2014/main" id="{CE97D78F-7553-45B7-A91B-975B5F54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S(s) = 1/[1 + G(s)]</a:t>
            </a:r>
          </a:p>
        </p:txBody>
      </p:sp>
      <p:sp>
        <p:nvSpPr>
          <p:cNvPr id="8" name="Identity">
            <a:extLst xmlns:a="http://schemas.openxmlformats.org/drawingml/2006/main">
              <a:ext uri="{FF2B5EF4-FFF2-40B4-BE49-F238E27FC236}">
                <a16:creationId xmlns:a16="http://schemas.microsoft.com/office/drawing/2014/main" id="{B36C5793-ADC7-49E3-BD86-93C7E477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8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8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8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8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8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8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8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8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8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8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S(s) + T(s) = 1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44F860BB-B406-4786-ABFD-D99856D1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Strong tracking at a frequency can also transmit measurement noise at that frequency.</a:t>
            </a:r>
          </a:p>
        </p:txBody>
      </p:sp>
    </p:spTree>
    <p:extLst>
      <p:ext uri="{BB962C8B-B14F-4D97-AF65-F5344CB8AC3E}">
        <p14:creationId xmlns:p14="http://schemas.microsoft.com/office/powerpoint/2010/main" val="12803703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0878D35F-DCA0-4214-A985-D1B3640C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Gain tradeoffs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23722E1F-E7EE-4B3D-AC3E-B16AAA3F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E5DFC39-540C-48C4-BDD2-2CC6D6A9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Low gain">
            <a:extLst xmlns:a="http://schemas.openxmlformats.org/drawingml/2006/main">
              <a:ext uri="{FF2B5EF4-FFF2-40B4-BE49-F238E27FC236}">
                <a16:creationId xmlns:a16="http://schemas.microsoft.com/office/drawing/2014/main" id="{5B16DA22-5EDA-4FAF-B683-2FB17452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Lower loop gain</a:t>
            </a:r>
          </a:p>
        </p:txBody>
      </p:sp>
      <p:sp>
        <p:nvSpPr>
          <p:cNvPr id="5" name="Low list">
            <a:extLst xmlns:a="http://schemas.openxmlformats.org/drawingml/2006/main">
              <a:ext uri="{FF2B5EF4-FFF2-40B4-BE49-F238E27FC236}">
                <a16:creationId xmlns:a16="http://schemas.microsoft.com/office/drawing/2014/main" id="{092C8748-1466-445D-ABFD-6EF133DD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Less disturbance rejection</a:t>
            </a:r>
          </a:p>
          <a:p xmlns:a="http://schemas.openxmlformats.org/drawingml/2006/main">
            <a: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Larger tracking error</a:t>
            </a:r>
          </a:p>
          <a:p xmlns:a="http://schemas.openxmlformats.org/drawingml/2006/main">
            <a:pPr algn="ctr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Often more damping</a:t>
            </a:r>
          </a:p>
        </p:txBody>
      </p:sp>
      <p:sp>
        <p:nvSpPr>
          <p:cNvPr id="6" name="High gain">
            <a:extLst xmlns:a="http://schemas.openxmlformats.org/drawingml/2006/main">
              <a:ext uri="{FF2B5EF4-FFF2-40B4-BE49-F238E27FC236}">
                <a16:creationId xmlns:a16="http://schemas.microsoft.com/office/drawing/2014/main" id="{86E25362-DB0E-428F-A105-73CF45B7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430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Higher loop gain</a:t>
            </a:r>
          </a:p>
        </p:txBody>
      </p:sp>
      <p:sp>
        <p:nvSpPr>
          <p:cNvPr id="7" name="High list">
            <a:extLst xmlns:a="http://schemas.openxmlformats.org/drawingml/2006/main">
              <a:ext uri="{FF2B5EF4-FFF2-40B4-BE49-F238E27FC236}">
                <a16:creationId xmlns:a16="http://schemas.microsoft.com/office/drawing/2014/main" id="{698D7E63-11F5-47E4-8AD7-9A58684F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Better low-frequency tracking</a:t>
            </a:r>
          </a:p>
          <a:p xmlns:a="http://schemas.openxmlformats.org/drawingml/2006/main">
            <a: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Better low-frequency disturbance rejection</a:t>
            </a:r>
          </a:p>
          <a:p xmlns:a="http://schemas.openxmlformats.org/drawingml/2006/main">
            <a:pPr algn="ctr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Possible overshoot or instability</a:t>
            </a:r>
          </a:p>
        </p:txBody>
      </p:sp>
      <p:sp>
        <p:nvSpPr>
          <p:cNvPr id="8" name="Middle">
            <a:extLst xmlns:a="http://schemas.openxmlformats.org/drawingml/2006/main">
              <a:ext uri="{FF2B5EF4-FFF2-40B4-BE49-F238E27FC236}">
                <a16:creationId xmlns:a16="http://schemas.microsoft.com/office/drawing/2014/main" id="{7758D29F-5820-403C-80AF-27E1E2A1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030A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7030A0"/>
                </a:solidFill>
                <a:latin typeface="Segoe UI"/>
                <a:ea typeface="Segoe UI"/>
                <a:cs typeface="Segoe UI"/>
              </a:rPr>
              <a:t>The closed-loop poles decide the transient cost of increasing gain.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2861EC38-C5AF-47DB-BF17-3096C6DB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Larger gain is a design choice, not a guarantee of better behavior.</a:t>
            </a:r>
          </a:p>
        </p:txBody>
      </p:sp>
    </p:spTree>
    <p:extLst>
      <p:ext uri="{BB962C8B-B14F-4D97-AF65-F5344CB8AC3E}">
        <p14:creationId xmlns:p14="http://schemas.microsoft.com/office/powerpoint/2010/main" val="7181641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15EB9E32-4A98-44BE-861F-A07CA505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Activity 2: Identify the disturbance path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D1AB8ED8-B92F-4DFE-B8BD-12404E0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F631C49-D495-49BE-826E-1732C8ED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Prompt">
            <a:extLst xmlns:a="http://schemas.openxmlformats.org/drawingml/2006/main">
              <a:ext uri="{FF2B5EF4-FFF2-40B4-BE49-F238E27FC236}">
                <a16:creationId xmlns:a16="http://schemas.microsoft.com/office/drawing/2014/main" id="{E5475925-66AE-4516-9848-FB45D899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0477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A disturbance D(s) is added at the plant output of a unity-feedback system. Which transfer function maps D(s) to Y(s)?</a:t>
            </a:r>
          </a:p>
        </p:txBody>
      </p:sp>
      <p:sp>
        <p:nvSpPr>
          <p:cNvPr id="5" name="Option 1">
            <a:extLst xmlns:a="http://schemas.openxmlformats.org/drawingml/2006/main">
              <a:ext uri="{FF2B5EF4-FFF2-40B4-BE49-F238E27FC236}">
                <a16:creationId xmlns:a16="http://schemas.microsoft.com/office/drawing/2014/main" id="{D32DBF4C-0DB4-4AAC-BC22-B32A8872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A. G(s)</a:t>
            </a:r>
          </a:p>
        </p:txBody>
      </p:sp>
      <p:sp>
        <p:nvSpPr>
          <p:cNvPr id="6" name="Option 2">
            <a:extLst xmlns:a="http://schemas.openxmlformats.org/drawingml/2006/main">
              <a:ext uri="{FF2B5EF4-FFF2-40B4-BE49-F238E27FC236}">
                <a16:creationId xmlns:a16="http://schemas.microsoft.com/office/drawing/2014/main" id="{61D7A022-6D69-4C03-AFA3-F6188A5B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B. G(s)/[1 + G(s)]</a:t>
            </a:r>
          </a:p>
        </p:txBody>
      </p:sp>
      <p:sp>
        <p:nvSpPr>
          <p:cNvPr id="7" name="Option 3">
            <a:extLst xmlns:a="http://schemas.openxmlformats.org/drawingml/2006/main">
              <a:ext uri="{FF2B5EF4-FFF2-40B4-BE49-F238E27FC236}">
                <a16:creationId xmlns:a16="http://schemas.microsoft.com/office/drawing/2014/main" id="{536741FB-2045-455A-8534-156DFAC6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528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C. 1/[1 + G(s)]</a:t>
            </a:r>
          </a:p>
        </p:txBody>
      </p:sp>
      <p:sp>
        <p:nvSpPr>
          <p:cNvPr id="8" name="Option 4">
            <a:extLst xmlns:a="http://schemas.openxmlformats.org/drawingml/2006/main">
              <a:ext uri="{FF2B5EF4-FFF2-40B4-BE49-F238E27FC236}">
                <a16:creationId xmlns:a16="http://schemas.microsoft.com/office/drawing/2014/main" id="{E1D0FEA6-DBA9-40E3-9B4C-56A87BAF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7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D. 1/G(s)</a:t>
            </a:r>
          </a:p>
        </p:txBody>
      </p:sp>
      <p:sp>
        <p:nvSpPr>
          <p:cNvPr id="9" name="Key message">
            <a:extLst xmlns:a="http://schemas.openxmlformats.org/drawingml/2006/main">
              <a:ext uri="{FF2B5EF4-FFF2-40B4-BE49-F238E27FC236}">
                <a16:creationId xmlns:a16="http://schemas.microsoft.com/office/drawing/2014/main" id="{7A4A7513-8969-4DC7-A49B-2B90A5DF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Write the output equation before selecting the path.</a:t>
            </a:r>
          </a:p>
        </p:txBody>
      </p:sp>
    </p:spTree>
    <p:extLst>
      <p:ext uri="{BB962C8B-B14F-4D97-AF65-F5344CB8AC3E}">
        <p14:creationId xmlns:p14="http://schemas.microsoft.com/office/powerpoint/2010/main" val="677106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181FED5-CA3F-445A-B981-C5A88C4E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Scope for Systems and Signals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E71D27FD-2D97-4129-8E36-3C03E7AD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B9C7ECD-EF59-4529-BF74-DCC8EA54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Core">
            <a:extLst xmlns:a="http://schemas.openxmlformats.org/drawingml/2006/main">
              <a:ext uri="{FF2B5EF4-FFF2-40B4-BE49-F238E27FC236}">
                <a16:creationId xmlns:a16="http://schemas.microsoft.com/office/drawing/2014/main" id="{D4674671-1727-4235-9574-C0E646A9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47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Core course skills</a:t>
            </a:r>
          </a:p>
        </p:txBody>
      </p:sp>
      <p:sp>
        <p:nvSpPr>
          <p:cNvPr id="5" name="Core list">
            <a:extLst xmlns:a="http://schemas.openxmlformats.org/drawingml/2006/main">
              <a:ext uri="{FF2B5EF4-FFF2-40B4-BE49-F238E27FC236}">
                <a16:creationId xmlns:a16="http://schemas.microsoft.com/office/drawing/2014/main" id="{9807EB0C-52B1-4367-84E6-6376CC49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Derive G/(1 + GH)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Find the closed-loop poles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Predict stability and transient form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Interpret tracking and disturbance paths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025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Explain gain tradeoffs</a:t>
            </a:r>
          </a:p>
        </p:txBody>
      </p:sp>
      <p:sp>
        <p:nvSpPr>
          <p:cNvPr id="6" name="Later">
            <a:extLst xmlns:a="http://schemas.openxmlformats.org/drawingml/2006/main">
              <a:ext uri="{FF2B5EF4-FFF2-40B4-BE49-F238E27FC236}">
                <a16:creationId xmlns:a16="http://schemas.microsoft.com/office/drawing/2014/main" id="{8B95142D-356E-4BBA-AB2C-BD9C69BE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47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Dedicated controls course</a:t>
            </a:r>
          </a:p>
        </p:txBody>
      </p:sp>
      <p:sp>
        <p:nvSpPr>
          <p:cNvPr id="7" name="Later list">
            <a:extLst xmlns:a="http://schemas.openxmlformats.org/drawingml/2006/main">
              <a:ext uri="{FF2B5EF4-FFF2-40B4-BE49-F238E27FC236}">
                <a16:creationId xmlns:a16="http://schemas.microsoft.com/office/drawing/2014/main" id="{92B1EDB5-B0B9-4920-A001-6DEA84B3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Root locus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Nyquist stability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Gain and phase margins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Controller synthesis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0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2025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Robust control design</a:t>
            </a:r>
          </a:p>
        </p:txBody>
      </p:sp>
      <p:sp>
        <p:nvSpPr>
          <p:cNvPr id="8" name="Key message">
            <a:extLst xmlns:a="http://schemas.openxmlformats.org/drawingml/2006/main">
              <a:ext uri="{FF2B5EF4-FFF2-40B4-BE49-F238E27FC236}">
                <a16:creationId xmlns:a16="http://schemas.microsoft.com/office/drawing/2014/main" id="{DF7709DD-B9AE-403B-9447-D02B5643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This section applies pole analysis. It does not need a full control-design unit.</a:t>
            </a:r>
          </a:p>
        </p:txBody>
      </p:sp>
    </p:spTree>
    <p:extLst>
      <p:ext uri="{BB962C8B-B14F-4D97-AF65-F5344CB8AC3E}">
        <p14:creationId xmlns:p14="http://schemas.microsoft.com/office/powerpoint/2010/main" val="8852275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FE69D24-26CF-4C81-AFCE-A22BF935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Feedback skills to retain</a:t>
            </a:r>
          </a:p>
        </p:txBody>
      </p:sp>
      <p:sp>
        <p:nvSpPr>
          <p:cNvPr id="2" name="Title underline">
            <a:extLst xmlns:a="http://schemas.openxmlformats.org/drawingml/2006/main">
              <a:ext uri="{FF2B5EF4-FFF2-40B4-BE49-F238E27FC236}">
                <a16:creationId xmlns:a16="http://schemas.microsoft.com/office/drawing/2014/main" id="{1B2D8358-B7F1-4B82-9FA2-47F0AF83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96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ED6B1FD-93DE-4B57-8FDF-272CCEFA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531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Summary">
            <a:extLst xmlns:a="http://schemas.openxmlformats.org/drawingml/2006/main">
              <a:ext uri="{FF2B5EF4-FFF2-40B4-BE49-F238E27FC236}">
                <a16:creationId xmlns:a16="http://schemas.microsoft.com/office/drawing/2014/main" id="{687A9B99-5964-44F2-812A-89B439A4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47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Form the closed-loop transfer function from the block diagram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Use 1 + G(s)H(s) = 0 to find the closed-loop poles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Predict stability and damping from those poles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Use final values only after checking stability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Identify reference, disturbance, and noise transfer paths</a:t>
            </a:r>
          </a:p>
          <a:p xmlns:a="http://schemas.openxmlformats.org/drawingml/2006/main">
            <a:pPr marL="279400" indent="-127000" algn="l">
              <a:spcAft>
                <a:spcPts val="1000"/>
              </a:spcAft>
              <a:buChar char="•"/>
              <a:defRPr sz="210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210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Treat gain changes as tradeoffs</a:t>
            </a:r>
          </a:p>
        </p:txBody>
      </p:sp>
      <p:sp>
        <p:nvSpPr>
          <p:cNvPr id="5" name="Key message">
            <a:extLst xmlns:a="http://schemas.openxmlformats.org/drawingml/2006/main">
              <a:ext uri="{FF2B5EF4-FFF2-40B4-BE49-F238E27FC236}">
                <a16:creationId xmlns:a16="http://schemas.microsoft.com/office/drawing/2014/main" id="{E0973C92-8080-4C5D-B193-25634DA2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FA"/>
          </a:solidFill>
          <a:ln xmlns:a="http://schemas.openxmlformats.org/drawingml/2006/main" w="19050">
            <a:solidFill>
              <a:srgbClr val="7030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65D"/>
                </a:solidFill>
                <a:latin typeface="Segoe UI"/>
                <a:ea typeface="Segoe UI"/>
                <a:cs typeface="Segoe UI"/>
              </a:rPr>
              <a:t>Closing the loop changes the poles. The poles explain the resulting behavior.</a:t>
            </a:r>
          </a:p>
        </p:txBody>
      </p:sp>
    </p:spTree>
    <p:extLst>
      <p:ext uri="{BB962C8B-B14F-4D97-AF65-F5344CB8AC3E}">
        <p14:creationId xmlns:p14="http://schemas.microsoft.com/office/powerpoint/2010/main" val="4749809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2026-10-29T02:19:54.6420000Z</dcterms:created>
  <dcterms:modified xsi:type="dcterms:W3CDTF">2026-10-29T02:19:54.6420000Z</dcterms:modified>
</coreProperties>
</file>